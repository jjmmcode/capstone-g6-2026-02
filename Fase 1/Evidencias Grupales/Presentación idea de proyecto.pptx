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24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18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Presentamos Anvil of Ambition, un videojuego 2D hecho en Godot para apoyar a estudiantes de metalurgia: les permite ver los distintos minerales y metales, cuáles se forjan y a qué temperatura son maleables.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Somos tres integrantes con roles separados por sistema, lo que permite trabajar en paralelo sobre el mismo repositorio. Los sprites son personajes del juego, solo decorativos.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recorrido de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problema es educativo y apunta a estudiantes de metalurgia: deben manejar muchas propiedades de minerales y metales que hoy aprenden desde tablas. En Chile, país minero, la metalurgia es una formación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cadena completa: el estudiante encuentra minerales reales, consulta su ficha, los funde para obtener el metal y luego compara cómo se comporta cada metal al calentarlo. La forja es el medio para observar, no el objetivo de aprendizaje.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contenido didáctico: por cada metal, el punto de fusión, el rango de temperatura en que es maleable y su maleabilidad relativa. Por ejemplo, el hierro se forja entre unos 900 y 1.250 grados, el estaño no se forja y se usa para alear, y el color indica la temperatura. Son valores aproximados de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objetivo general guía el proyecto; los seis específicos se convierten en las épicas del backlog y se verifican al final del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Elegimos un corte vertical: mejor un fragmento completo y pulido que muchos sistemas a medias.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Usamos Scrum porque en videojuegos las mecánicas deben probarse jugándolas y ajustarse; la cascada no permite ese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Fase 1: definición y planificación. Fase 2: desarrollo en sprints con frentes paralelos por rol. Fase 3: presentación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capas: escenas que el jugador ve, servicios globales (autoloads de Godot) que guardan el estado y se comunican por señales, y datos como recursos tipados y partidas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datos del juego son recursos tipados de Godot: crear contenido no requiere tocar código. La partida se guarda en JSON por ranuras.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Todas las herramientas son gratuitas, así que el proyecto no requiere presupuesto.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Ya existe un prototipo funcional: escenarios conectados, forja, inventario, mina, combate y cinemática. Si hay tiempo, se muestra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Estas son las evidencias para el avance y la entrega final; cada una se vincula con un objetivo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proyecto es factible por el alcance acotado y las herramientas gratuitas. Estos son los cuatro riesgos principales y cómo los mitigamos.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Gracias. Quedamos atentos a las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es la parte de metalurgia extractiva, alineada con la especialidad de Metalurgia Extractiva del currículum nacional: el estudiante identifica minerales reales, conoce su fórmula y contenido de metal, y ve el paso de mineral a lingote mediante la fundición, donde el metal se separa de la escoria.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g"/><Relationship Id="rId4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10.png"/><Relationship Id="rId9" Type="http://schemas.openxmlformats.org/officeDocument/2006/relationships/image" Target="../media/image23.jpg"/><Relationship Id="rId10" Type="http://schemas.openxmlformats.org/officeDocument/2006/relationships/image" Target="../media/image24.png"/><Relationship Id="rId11" Type="http://schemas.openxmlformats.org/officeDocument/2006/relationships/image" Target="../media/image13.png"/><Relationship Id="rId1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Relationship Id="rId9" Type="http://schemas.openxmlformats.org/officeDocument/2006/relationships/image" Target="../media/image22.png"/><Relationship Id="rId10" Type="http://schemas.openxmlformats.org/officeDocument/2006/relationships/image" Target="../media/image10.png"/><Relationship Id="rId11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jpg"/><Relationship Id="rId4" Type="http://schemas.openxmlformats.org/officeDocument/2006/relationships/image" Target="../media/image23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jp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la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D1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" y="228600"/>
            <a:ext cx="23317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uo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65176"/>
            <a:ext cx="226771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17320"/>
            <a:ext cx="77724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 i="0">
                <a:solidFill>
                  <a:srgbClr val="E8B04B"/>
                </a:solidFill>
                <a:latin typeface="Georgia"/>
              </a:rPr>
              <a:t>ANVIL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77724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E8B04B"/>
                </a:solidFill>
                <a:latin typeface="Georgia"/>
              </a:rPr>
              <a:t>OF AMBITION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520440"/>
            <a:ext cx="2926080" cy="54864"/>
          </a:xfrm>
          <a:prstGeom prst="rect">
            <a:avLst/>
          </a:prstGeom>
          <a:solidFill>
            <a:srgbClr val="C9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F4E7CC"/>
                </a:solidFill>
                <a:latin typeface="Calibri"/>
              </a:rPr>
              <a:t>Videojuego 2D de apoyo para estudiantes de metalurgia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F4E7CC"/>
                </a:solidFill>
                <a:latin typeface="Calibri"/>
              </a:rPr>
              <a:t>Definición del proyecto · Fase 1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7315200" cy="51193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F4E7CC"/>
                </a:solidFill>
                <a:latin typeface="Calibri"/>
              </a:rPr>
              <a:t>Por: Felipe Millán · </a:t>
            </a:r>
            <a:r>
              <a:rPr lang="es-ES" sz="1400" b="0" i="0" dirty="0">
                <a:solidFill>
                  <a:srgbClr val="F4E7CC"/>
                </a:solidFill>
                <a:latin typeface="Calibri"/>
              </a:rPr>
              <a:t>Joel Medina </a:t>
            </a:r>
            <a:r>
              <a:rPr sz="1400" b="0" i="0" dirty="0">
                <a:solidFill>
                  <a:srgbClr val="F4E7CC"/>
                </a:solidFill>
                <a:latin typeface="Calibri"/>
              </a:rPr>
              <a:t>· </a:t>
            </a:r>
            <a:r>
              <a:rPr lang="es-ES" sz="1400" b="0" i="0" dirty="0" err="1">
                <a:solidFill>
                  <a:srgbClr val="F4E7CC"/>
                </a:solidFill>
                <a:latin typeface="Calibri"/>
              </a:rPr>
              <a:t>Yerco</a:t>
            </a:r>
            <a:r>
              <a:rPr lang="es-ES" sz="1400" b="0" i="0" dirty="0">
                <a:solidFill>
                  <a:srgbClr val="F4E7CC"/>
                </a:solidFill>
                <a:latin typeface="Calibri"/>
              </a:rPr>
              <a:t> </a:t>
            </a:r>
            <a:r>
              <a:rPr lang="es-ES" sz="1400" b="0" i="0" dirty="0" err="1">
                <a:solidFill>
                  <a:srgbClr val="F4E7CC"/>
                </a:solidFill>
                <a:latin typeface="Calibri"/>
              </a:rPr>
              <a:t>Loncon</a:t>
            </a:r>
            <a:endParaRPr sz="1400" b="0" i="0" dirty="0">
              <a:solidFill>
                <a:srgbClr val="F4E7CC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F4E7CC"/>
                </a:solidFill>
                <a:latin typeface="Calibri"/>
              </a:rPr>
              <a:t>Ingeniería </a:t>
            </a:r>
            <a:r>
              <a:rPr sz="1400" b="0" i="0" dirty="0" err="1">
                <a:solidFill>
                  <a:srgbClr val="F4E7CC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F4E7C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F4E7CC"/>
                </a:solidFill>
                <a:latin typeface="Calibri"/>
              </a:rPr>
              <a:t>Informática</a:t>
            </a:r>
            <a:r>
              <a:rPr sz="1400" b="0" i="0" dirty="0">
                <a:solidFill>
                  <a:srgbClr val="F4E7CC"/>
                </a:solidFill>
                <a:latin typeface="Calibri"/>
              </a:rPr>
              <a:t> · Duoc UC</a:t>
            </a:r>
          </a:p>
        </p:txBody>
      </p:sp>
      <p:pic>
        <p:nvPicPr>
          <p:cNvPr id="11" name="Picture 10" descr="edric_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240280"/>
            <a:ext cx="1805135" cy="4206240"/>
          </a:xfrm>
          <a:prstGeom prst="rect">
            <a:avLst/>
          </a:prstGeom>
        </p:spPr>
      </p:pic>
      <p:pic>
        <p:nvPicPr>
          <p:cNvPr id="12" name="Picture 11" descr="aid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2514600"/>
            <a:ext cx="161902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tien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75607" y="320040"/>
            <a:ext cx="384048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75607" y="320040"/>
            <a:ext cx="384048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El equipo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48006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3017520" cy="2331720"/>
          </a:xfrm>
          <a:prstGeom prst="roundRect">
            <a:avLst>
              <a:gd name="adj" fmla="val 6000"/>
            </a:avLst>
          </a:prstGeom>
          <a:solidFill>
            <a:srgbClr val="EAD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id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672" y="1847088"/>
            <a:ext cx="903642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206240"/>
            <a:ext cx="310896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 dirty="0">
                <a:solidFill>
                  <a:srgbClr val="3B2A1E"/>
                </a:solidFill>
                <a:latin typeface="Georgia"/>
              </a:rPr>
              <a:t>Felipe Millán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292608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Planificación, diseño del juego (GDD), fichas de metales, contenido didáctico, narrativa, escenarios, arte e integración.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74720" cy="48006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783080"/>
            <a:ext cx="3017520" cy="2331720"/>
          </a:xfrm>
          <a:prstGeom prst="roundRect">
            <a:avLst>
              <a:gd name="adj" fmla="val 6000"/>
            </a:avLst>
          </a:prstGeom>
          <a:solidFill>
            <a:srgbClr val="EAD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dric_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1847088"/>
            <a:ext cx="94181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4206240"/>
            <a:ext cx="310896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b="1" dirty="0">
                <a:solidFill>
                  <a:srgbClr val="3B2A1E"/>
                </a:solidFill>
                <a:latin typeface="Georgia"/>
              </a:rPr>
              <a:t>Joel Medina</a:t>
            </a:r>
            <a:endParaRPr sz="1800" b="1" i="0" dirty="0">
              <a:solidFill>
                <a:srgbClr val="3B2A1E"/>
              </a:solidFill>
              <a:latin typeface="Georg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4983480"/>
            <a:ext cx="292608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Menú principal, pausa y opciones, HUD e interfaz de inventario y equipamiento.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74720" cy="48006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1783080"/>
            <a:ext cx="3017520" cy="2331720"/>
          </a:xfrm>
          <a:prstGeom prst="roundRect">
            <a:avLst>
              <a:gd name="adj" fmla="val 6000"/>
            </a:avLst>
          </a:prstGeom>
          <a:solidFill>
            <a:srgbClr val="EAD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wol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19" y="2148840"/>
            <a:ext cx="2651760" cy="16335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19" y="4206240"/>
            <a:ext cx="310896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b="1" dirty="0">
                <a:solidFill>
                  <a:srgbClr val="3B2A1E"/>
                </a:solidFill>
                <a:latin typeface="Georgia"/>
              </a:rPr>
              <a:t>Yerko </a:t>
            </a:r>
            <a:r>
              <a:rPr lang="es-ES" b="1" dirty="0" err="1">
                <a:solidFill>
                  <a:srgbClr val="3B2A1E"/>
                </a:solidFill>
                <a:latin typeface="Georgia"/>
              </a:rPr>
              <a:t>Loncon</a:t>
            </a:r>
            <a:endParaRPr sz="1800" b="1" i="0" dirty="0">
              <a:solidFill>
                <a:srgbClr val="3B2A1E"/>
              </a:solidFill>
              <a:latin typeface="Georg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66760" y="4983480"/>
            <a:ext cx="292608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Combate por turnos, cálculo de daño y comportamiento de los enemigos.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herre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992727" y="320040"/>
            <a:ext cx="420624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92727" y="320040"/>
            <a:ext cx="420624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Hoja de ruta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" y="14356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pic>
        <p:nvPicPr>
          <p:cNvPr id="7" name="Picture 6" descr="ic_potion_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737360"/>
            <a:ext cx="355002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22860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Problemática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6002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55847" y="14356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pic>
        <p:nvPicPr>
          <p:cNvPr id="11" name="Picture 10" descr="ic_hammer_ba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59" y="1737360"/>
            <a:ext cx="488128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1879" y="22860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Solución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07608" y="14356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pic>
        <p:nvPicPr>
          <p:cNvPr id="15" name="Picture 14" descr="ic_bronze_ing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737360"/>
            <a:ext cx="58963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22860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Minerales y metales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59" y="16002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59367" y="14356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pic>
        <p:nvPicPr>
          <p:cNvPr id="19" name="Picture 18" descr="ic_bluepr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0" y="1737360"/>
            <a:ext cx="55159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15399" y="22860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Objetivos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2004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04088" y="30358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pic>
        <p:nvPicPr>
          <p:cNvPr id="23" name="Picture 22" descr="ic_copper_o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3337560"/>
            <a:ext cx="569976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0120" y="38862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Alcance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32004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55847" y="30358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pic>
        <p:nvPicPr>
          <p:cNvPr id="27" name="Picture 26" descr="ic_alloy_b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0559" y="333756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11879" y="38862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Metodología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2004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07608" y="30358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pic>
        <p:nvPicPr>
          <p:cNvPr id="31" name="Picture 30" descr="ic_iron_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3337560"/>
            <a:ext cx="569976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263640" y="38862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Cronograma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59" y="32004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659367" y="30358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pic>
        <p:nvPicPr>
          <p:cNvPr id="35" name="Picture 34" descr="ic_tin_o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0" y="3337560"/>
            <a:ext cx="569976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15399" y="38862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Arquitectura y datos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8006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04088" y="46360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pic>
        <p:nvPicPr>
          <p:cNvPr id="39" name="Picture 38" descr="ic_iron_dagg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4937760"/>
            <a:ext cx="473336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60120" y="54864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Tecnologías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20439" y="48006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355847" y="46360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pic>
        <p:nvPicPr>
          <p:cNvPr id="43" name="Picture 42" descr="ic_bronze_dagg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0559" y="4937760"/>
            <a:ext cx="473336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611879" y="54864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Avance del prototipo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8006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007608" y="46360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pic>
        <p:nvPicPr>
          <p:cNvPr id="47" name="Picture 46" descr="ic_wolf_pel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32320" y="4937760"/>
            <a:ext cx="55159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63640" y="54864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Evidencias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23959" y="480060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659367" y="4636008"/>
            <a:ext cx="457200" cy="457200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pic>
        <p:nvPicPr>
          <p:cNvPr id="51" name="Picture 50" descr="ic_wolf_fan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84080" y="4937760"/>
            <a:ext cx="414169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915399" y="5486400"/>
            <a:ext cx="219456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B2A1E"/>
                </a:solidFill>
                <a:latin typeface="Georgia"/>
              </a:rPr>
              <a:t>Factibilidad y riesgos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exteri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992727" y="320040"/>
            <a:ext cx="420624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92727" y="320040"/>
            <a:ext cx="420624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Problemática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863840" cy="484632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7223760" cy="43891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2200"/>
              </a:spcAft>
            </a:pPr>
            <a:r>
              <a:rPr sz="2300" b="1" i="0">
                <a:solidFill>
                  <a:srgbClr val="C9551F"/>
                </a:solidFill>
                <a:latin typeface="Calibri"/>
              </a:rPr>
              <a:t>◆ </a:t>
            </a:r>
            <a:r>
              <a:rPr sz="2300" b="0" i="0">
                <a:solidFill>
                  <a:srgbClr val="3B2A1E"/>
                </a:solidFill>
                <a:latin typeface="Calibri"/>
              </a:rPr>
              <a:t>Los estudiantes de metalurgia deben conocer las propiedades de muchos minerales y metales: cuáles se pueden forjar, a qué temperatura se vuelven maleables, su punto de fusión y cómo cambian al alearse.</a:t>
            </a:r>
          </a:p>
          <a:p>
            <a:pPr algn="l">
              <a:spcAft>
                <a:spcPts val="2200"/>
              </a:spcAft>
            </a:pPr>
            <a:r>
              <a:rPr sz="2300" b="1" i="0">
                <a:solidFill>
                  <a:srgbClr val="C9551F"/>
                </a:solidFill>
                <a:latin typeface="Calibri"/>
              </a:rPr>
              <a:t>◆ </a:t>
            </a:r>
            <a:r>
              <a:rPr sz="2300" b="0" i="0">
                <a:solidFill>
                  <a:srgbClr val="3B2A1E"/>
                </a:solidFill>
                <a:latin typeface="Calibri"/>
              </a:rPr>
              <a:t>Esa información suele estar en tablas y textos teóricos: es difícil de visualizar, comparar y retener.</a:t>
            </a:r>
          </a:p>
          <a:p>
            <a:pPr algn="l">
              <a:spcAft>
                <a:spcPts val="2200"/>
              </a:spcAft>
            </a:pPr>
            <a:r>
              <a:rPr sz="2300" b="1" i="0">
                <a:solidFill>
                  <a:srgbClr val="C9551F"/>
                </a:solidFill>
                <a:latin typeface="Calibri"/>
              </a:rPr>
              <a:t>◆ </a:t>
            </a:r>
            <a:r>
              <a:rPr sz="2300" b="0" i="0">
                <a:solidFill>
                  <a:srgbClr val="3B2A1E"/>
                </a:solidFill>
                <a:latin typeface="Calibri"/>
              </a:rPr>
              <a:t>Falta una herramienta interactiva donde puedan ver cómo se comporta cada metal, en lugar de solo memorizar sus datos.</a:t>
            </a:r>
          </a:p>
        </p:txBody>
      </p:sp>
      <p:pic>
        <p:nvPicPr>
          <p:cNvPr id="7" name="Picture 6" descr="ed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828800"/>
            <a:ext cx="188803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herre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18407" y="320040"/>
            <a:ext cx="475488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18407" y="320040"/>
            <a:ext cx="475488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Nuestra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760720" cy="49377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21208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3B2A1E"/>
                </a:solidFill>
                <a:latin typeface="Calibri"/>
              </a:rPr>
              <a:t>Anvil of Ambition</a:t>
            </a:r>
            <a:r>
              <a:rPr sz="1900" b="0" i="0">
                <a:solidFill>
                  <a:srgbClr val="3B2A1E"/>
                </a:solidFill>
                <a:latin typeface="Calibri"/>
              </a:rPr>
              <a:t> es un laboratorio interactivo de metalurgia en forma de videojuego de rol 2D.</a:t>
            </a:r>
          </a:p>
        </p:txBody>
      </p:sp>
      <p:pic>
        <p:nvPicPr>
          <p:cNvPr id="7" name="Picture 6" descr="ic_iron_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16352"/>
            <a:ext cx="51816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2743200"/>
            <a:ext cx="448056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2A1E"/>
                </a:solidFill>
                <a:latin typeface="Calibri"/>
              </a:rPr>
              <a:t>Explorar: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Encontrar minerales reales en la mina</a:t>
            </a:r>
          </a:p>
        </p:txBody>
      </p:sp>
      <p:pic>
        <p:nvPicPr>
          <p:cNvPr id="9" name="Picture 8" descr="ic_copper_o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54787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3474720"/>
            <a:ext cx="448056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2A1E"/>
                </a:solidFill>
                <a:latin typeface="Calibri"/>
              </a:rPr>
              <a:t>Consultar: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Ficha de cada mineral: fórmula, % de metal y aspecto</a:t>
            </a:r>
          </a:p>
        </p:txBody>
      </p:sp>
      <p:pic>
        <p:nvPicPr>
          <p:cNvPr id="11" name="Picture 10" descr="ic_hammer_ba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79392"/>
            <a:ext cx="51816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4480" y="4206240"/>
            <a:ext cx="448056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2A1E"/>
                </a:solidFill>
                <a:latin typeface="Calibri"/>
              </a:rPr>
              <a:t>Fundir: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Separar el metal de la escoria a su temperatura de fusión</a:t>
            </a:r>
          </a:p>
        </p:txBody>
      </p:sp>
      <p:pic>
        <p:nvPicPr>
          <p:cNvPr id="13" name="Picture 12" descr="ic_potion_m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010912"/>
            <a:ext cx="51816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4480" y="4937760"/>
            <a:ext cx="448056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2A1E"/>
                </a:solidFill>
                <a:latin typeface="Calibri"/>
              </a:rPr>
              <a:t>Comparar: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Ver a qué temperatura cada metal es maleable y cuáles no se forjan</a:t>
            </a:r>
          </a:p>
        </p:txBody>
      </p:sp>
      <p:pic>
        <p:nvPicPr>
          <p:cNvPr id="15" name="Picture 14" descr="ic_bronze_ing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742432"/>
            <a:ext cx="536027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5669280"/>
            <a:ext cx="448056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2A1E"/>
                </a:solidFill>
                <a:latin typeface="Calibri"/>
              </a:rPr>
              <a:t>Alear: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Ver cómo el bronce cambia las propiedades del cobre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783080"/>
            <a:ext cx="5120640" cy="2971800"/>
          </a:xfrm>
          <a:prstGeom prst="roundRect">
            <a:avLst>
              <a:gd name="adj" fmla="val 3000"/>
            </a:avLst>
          </a:prstGeom>
          <a:solidFill>
            <a:srgbClr val="2B1D14"/>
          </a:solidFill>
          <a:ln w="3810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_all_TallerScen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1874519"/>
            <a:ext cx="4937760" cy="25546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9400" y="4800600"/>
            <a:ext cx="51206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F4E7CC"/>
                </a:solidFill>
                <a:latin typeface="Calibri"/>
              </a:rPr>
              <a:t>La herrería del prototipo</a:t>
            </a:r>
          </a:p>
        </p:txBody>
      </p:sp>
      <p:pic>
        <p:nvPicPr>
          <p:cNvPr id="20" name="Picture 19" descr="yunq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6960" y="5074920"/>
            <a:ext cx="1327441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75120" y="5303520"/>
            <a:ext cx="320040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B04B"/>
                </a:solidFill>
                <a:latin typeface="Calibri"/>
              </a:rPr>
              <a:t>La forja es el medio para observar cómo se comporta cada metal.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lla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12567" y="320040"/>
            <a:ext cx="676656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12567" y="320040"/>
            <a:ext cx="67665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Del lingote al arma: propiedades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F4E7CC"/>
                </a:solidFill>
                <a:latin typeface="Calibri"/>
              </a:rPr>
              <a:t>Así ve el estudiante la ficha de cada metal en el juego (valores aproximados)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97480" cy="34290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_iron_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10512"/>
            <a:ext cx="5699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1783080"/>
            <a:ext cx="182880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Hierro / acero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Fusión: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1.538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Forja: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900 – 1.250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1280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Maleabilidad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4884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7744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604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34640" y="3127248"/>
            <a:ext cx="182880" cy="182880"/>
          </a:xfrm>
          <a:prstGeom prst="rect">
            <a:avLst/>
          </a:prstGeom>
          <a:solidFill>
            <a:srgbClr val="EAD7B0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520439"/>
            <a:ext cx="237744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Bajo ~800 °C deja de ceder y se agrieta; sobre ~1.300 °C se quema. Se templa desde 780–850 °C.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1645920"/>
            <a:ext cx="2697480" cy="34290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_copper_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1810512"/>
            <a:ext cx="569976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0" y="1783080"/>
            <a:ext cx="182880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Cobre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468880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Fusión: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1.085 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761488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Forja: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700 – 900 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54096"/>
            <a:ext cx="1280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Maleabilidad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8348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208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4068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3520439"/>
            <a:ext cx="237744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Muy maleable, incluso en frío. Se endurece al martillarlo y se recuece calentándolo.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645920"/>
            <a:ext cx="2697480" cy="34290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_tin_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810512"/>
            <a:ext cx="569976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49440" y="1783080"/>
            <a:ext cx="182880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Estaño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468880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Fusión: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232 °C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761488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Forja: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No se forja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054096"/>
            <a:ext cx="1280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Maleabilidad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81812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3127248"/>
            <a:ext cx="182880" cy="182880"/>
          </a:xfrm>
          <a:prstGeom prst="rect">
            <a:avLst/>
          </a:prstGeom>
          <a:solidFill>
            <a:srgbClr val="EAD7B0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75320" y="3127248"/>
            <a:ext cx="182880" cy="182880"/>
          </a:xfrm>
          <a:prstGeom prst="rect">
            <a:avLst/>
          </a:prstGeom>
          <a:solidFill>
            <a:srgbClr val="EAD7B0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03920" y="3127248"/>
            <a:ext cx="182880" cy="182880"/>
          </a:xfrm>
          <a:prstGeom prst="rect">
            <a:avLst/>
          </a:prstGeom>
          <a:solidFill>
            <a:srgbClr val="EAD7B0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3520439"/>
            <a:ext cx="237744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Tan blando y de fusión tan baja que no sirve solo para armas: se usa para alear.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6840" y="1645920"/>
            <a:ext cx="2697480" cy="34290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c_bronze_ing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1810512"/>
            <a:ext cx="58963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784080" y="1783080"/>
            <a:ext cx="182880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Bronce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2468880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Fusión: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~950 °C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2761488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Forja: </a:t>
            </a:r>
            <a:r>
              <a:rPr sz="1300" b="0" i="0">
                <a:solidFill>
                  <a:srgbClr val="3B2A1E"/>
                </a:solidFill>
                <a:latin typeface="Calibri"/>
              </a:rPr>
              <a:t>600 – 800 °C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3054096"/>
            <a:ext cx="1280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Maleabilidad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2416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65276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881360" y="3127248"/>
            <a:ext cx="182880" cy="182880"/>
          </a:xfrm>
          <a:prstGeom prst="rect">
            <a:avLst/>
          </a:prstGeom>
          <a:solidFill>
            <a:srgbClr val="C9551F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109960" y="3127248"/>
            <a:ext cx="182880" cy="182880"/>
          </a:xfrm>
          <a:prstGeom prst="rect">
            <a:avLst/>
          </a:prstGeom>
          <a:solidFill>
            <a:srgbClr val="EAD7B0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338560" y="3127248"/>
            <a:ext cx="182880" cy="182880"/>
          </a:xfrm>
          <a:prstGeom prst="rect">
            <a:avLst/>
          </a:prstGeom>
          <a:solidFill>
            <a:srgbClr val="EAD7B0"/>
          </a:solidFill>
          <a:ln w="127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89720" y="3520439"/>
            <a:ext cx="237744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Cerca de 90 % cobre y 10 % estaño: más duro que el cobre; con más estaño se vuelve quebradizo.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5303520"/>
            <a:ext cx="11201400" cy="1325880"/>
          </a:xfrm>
          <a:prstGeom prst="roundRect">
            <a:avLst>
              <a:gd name="adj" fmla="val 4000"/>
            </a:avLst>
          </a:prstGeom>
          <a:solidFill>
            <a:srgbClr val="2B1D14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5349240"/>
            <a:ext cx="274320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B04B"/>
                </a:solidFill>
                <a:latin typeface="Georgia"/>
              </a:rPr>
              <a:t>Color de incandescencia del acero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5504688"/>
            <a:ext cx="960120" cy="502920"/>
          </a:xfrm>
          <a:prstGeom prst="rect">
            <a:avLst/>
          </a:prstGeom>
          <a:solidFill>
            <a:srgbClr val="5A0D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2044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500 °C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80" y="5504688"/>
            <a:ext cx="960120" cy="502920"/>
          </a:xfrm>
          <a:prstGeom prst="rect">
            <a:avLst/>
          </a:prstGeom>
          <a:solidFill>
            <a:srgbClr val="8C1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2628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650 °C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5504688"/>
            <a:ext cx="960120" cy="502920"/>
          </a:xfrm>
          <a:prstGeom prst="rect">
            <a:avLst/>
          </a:prstGeom>
          <a:solidFill>
            <a:srgbClr val="CC1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3212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750 °C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5504688"/>
            <a:ext cx="960120" cy="502920"/>
          </a:xfrm>
          <a:prstGeom prst="rect">
            <a:avLst/>
          </a:prstGeom>
          <a:solidFill>
            <a:srgbClr val="F240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3796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900 °C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43800" y="5504688"/>
            <a:ext cx="960120" cy="502920"/>
          </a:xfrm>
          <a:prstGeom prst="rect">
            <a:avLst/>
          </a:prstGeom>
          <a:solidFill>
            <a:srgbClr val="FF8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4380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1.000 °C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9640" y="5504688"/>
            <a:ext cx="960120" cy="502920"/>
          </a:xfrm>
          <a:prstGeom prst="rect">
            <a:avLst/>
          </a:prstGeom>
          <a:solidFill>
            <a:srgbClr val="FFB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4964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1.100 °C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55480" y="5504688"/>
            <a:ext cx="960120" cy="502920"/>
          </a:xfrm>
          <a:prstGeom prst="rect">
            <a:avLst/>
          </a:prstGeom>
          <a:solidFill>
            <a:srgbClr val="FFE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5548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1.200 °C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561320" y="5504688"/>
            <a:ext cx="960120" cy="502920"/>
          </a:xfrm>
          <a:prstGeom prst="rect">
            <a:avLst/>
          </a:prstGeom>
          <a:solidFill>
            <a:srgbClr val="FFF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561320" y="6035040"/>
            <a:ext cx="960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4E7CC"/>
                </a:solidFill>
                <a:latin typeface="Calibri"/>
              </a:rPr>
              <a:t>1.300+ °C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bifurcac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267047" y="320040"/>
            <a:ext cx="365760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67047" y="320040"/>
            <a:ext cx="365760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Objetivos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1325880"/>
          </a:xfrm>
          <a:prstGeom prst="roundRect">
            <a:avLst>
              <a:gd name="adj" fmla="val 4000"/>
            </a:avLst>
          </a:prstGeom>
          <a:solidFill>
            <a:srgbClr val="2B1D14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28600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B04B"/>
                </a:solidFill>
                <a:latin typeface="Georgia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8046720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4E7CC"/>
                </a:solidFill>
                <a:latin typeface="Calibri"/>
              </a:rPr>
              <a:t>Desarrollar un videojuego 2D en Godot que apoye a estudiantes de metalurgia en el aprendizaje de las propiedades de minerales y metales (forjabilidad, temperatura de maleabilidad, punto de fusión y aleaciones), entregando un corte vertical jugable al término del semestre.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85232" cy="1024128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3273552"/>
            <a:ext cx="512064" cy="512064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63239"/>
            <a:ext cx="3840480" cy="9326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2A1E"/>
                </a:solidFill>
                <a:latin typeface="Calibri"/>
              </a:rPr>
              <a:t>Diseñar el juego en un GDD con alcance, mecánicas, narrativa y contenidos didácticos.</a:t>
            </a:r>
          </a:p>
        </p:txBody>
      </p:sp>
      <p:pic>
        <p:nvPicPr>
          <p:cNvPr id="11" name="Picture 10" descr="ic_blue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91839"/>
            <a:ext cx="501445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3017520"/>
            <a:ext cx="5285232" cy="1024128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36792" y="3273552"/>
            <a:ext cx="512064" cy="512064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063239"/>
            <a:ext cx="3840480" cy="9326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2A1E"/>
                </a:solidFill>
                <a:latin typeface="Calibri"/>
              </a:rPr>
              <a:t>Implementar fichas de minerales y metales con datos reales y una forja para observarlos.</a:t>
            </a:r>
          </a:p>
        </p:txBody>
      </p:sp>
      <p:pic>
        <p:nvPicPr>
          <p:cNvPr id="15" name="Picture 14" descr="ic_hammer_ba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3928" y="3291839"/>
            <a:ext cx="443753" cy="457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4206240"/>
            <a:ext cx="5285232" cy="1024128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6112" y="4462272"/>
            <a:ext cx="512064" cy="512064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59"/>
            <a:ext cx="3840480" cy="9326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2A1E"/>
                </a:solidFill>
                <a:latin typeface="Calibri"/>
              </a:rPr>
              <a:t>Implementar inventario, equipamiento, estadísticas, progresión y economía.</a:t>
            </a:r>
          </a:p>
        </p:txBody>
      </p:sp>
      <p:pic>
        <p:nvPicPr>
          <p:cNvPr id="19" name="Picture 18" descr="ic_band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4480559"/>
            <a:ext cx="430306" cy="457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72200" y="4206240"/>
            <a:ext cx="5285232" cy="1024128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36792" y="4462272"/>
            <a:ext cx="512064" cy="512064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251959"/>
            <a:ext cx="3840480" cy="9326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2A1E"/>
                </a:solidFill>
                <a:latin typeface="Calibri"/>
              </a:rPr>
              <a:t>Implementar exploración, recolección y combate por turnos cronometrado.</a:t>
            </a:r>
          </a:p>
        </p:txBody>
      </p:sp>
      <p:pic>
        <p:nvPicPr>
          <p:cNvPr id="23" name="Picture 22" descr="ic_iron_dagg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928" y="4480559"/>
            <a:ext cx="430306" cy="4572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31520" y="5394960"/>
            <a:ext cx="5285232" cy="1024128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6112" y="5650992"/>
            <a:ext cx="512064" cy="512064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40680"/>
            <a:ext cx="3840480" cy="9326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2A1E"/>
                </a:solidFill>
                <a:latin typeface="Calibri"/>
              </a:rPr>
              <a:t>Implementar la narrativa (diálogos y cinemática) y el guardado de partidas.</a:t>
            </a:r>
          </a:p>
        </p:txBody>
      </p:sp>
      <p:pic>
        <p:nvPicPr>
          <p:cNvPr id="27" name="Picture 26" descr="ic_alloy_bo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3248" y="5669280"/>
            <a:ext cx="457200" cy="4572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172200" y="5394960"/>
            <a:ext cx="5285232" cy="1024128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36792" y="5650992"/>
            <a:ext cx="512064" cy="512064"/>
          </a:xfrm>
          <a:prstGeom prst="ellipse">
            <a:avLst/>
          </a:prstGeom>
          <a:solidFill>
            <a:srgbClr val="C9551F"/>
          </a:solidFill>
          <a:ln w="1905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440680"/>
            <a:ext cx="3840480" cy="9326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2A1E"/>
                </a:solidFill>
                <a:latin typeface="Calibri"/>
              </a:rPr>
              <a:t>Validar el producto con pruebas automatizadas y con estudiantes de metalurgia.</a:t>
            </a:r>
          </a:p>
        </p:txBody>
      </p:sp>
      <p:pic>
        <p:nvPicPr>
          <p:cNvPr id="31" name="Picture 30" descr="ic_potion_h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3928" y="5669280"/>
            <a:ext cx="322729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mi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69767" y="320040"/>
            <a:ext cx="585216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69767" y="320040"/>
            <a:ext cx="58521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Alcances y limitaciones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489204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594360"/>
          </a:xfrm>
          <a:prstGeom prst="roundRect">
            <a:avLst>
              <a:gd name="adj" fmla="val 15000"/>
            </a:avLst>
          </a:prstGeom>
          <a:solidFill>
            <a:srgbClr val="3E6B2F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5780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Incluye (corte vertical)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663440" cy="4023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Fichas de minerales y metales con datos reales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Herrería, tienda, bosque y mina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Inventario, equipo, estadísticas y economía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Progresión del herrero (Principiante)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Combate por turnos con 2 tipos de lobo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Diálogos y cinemática del tutorial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Guardado en 3 ranuras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57800" cy="489204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57800" cy="594360"/>
          </a:xfrm>
          <a:prstGeom prst="roundRect">
            <a:avLst>
              <a:gd name="adj" fmla="val 15000"/>
            </a:avLst>
          </a:prstGeom>
          <a:solidFill>
            <a:srgbClr val="C9551F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25780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Fuera de alcance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31720"/>
            <a:ext cx="4663440" cy="4023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✖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Juego completo: solo un fragmento jugable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✖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Solo metales (sin hueso ni cristal)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✖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Sin mejoras +1/+10 ni durabilidad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✖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Sin segundo piso de la herrería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✖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Solo PC (Windows)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✖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Arte generado con IA, autorizado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✖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Contenido de nivel introductorio a técnico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pat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86887" y="320040"/>
            <a:ext cx="621792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86887" y="320040"/>
            <a:ext cx="621792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Metodología: Scrum adaptado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F4E7CC"/>
                </a:solidFill>
                <a:latin typeface="Calibri"/>
              </a:rPr>
              <a:t>Sprints de 2 semanas · backlog en Trello · versión jugable al cierre de cada sprint</a:t>
            </a:r>
          </a:p>
        </p:txBody>
      </p:sp>
      <p:sp>
        <p:nvSpPr>
          <p:cNvPr id="6" name="Pentagon 5"/>
          <p:cNvSpPr/>
          <p:nvPr/>
        </p:nvSpPr>
        <p:spPr>
          <a:xfrm>
            <a:off x="640080" y="1783080"/>
            <a:ext cx="3703320" cy="1417320"/>
          </a:xfrm>
          <a:prstGeom prst="homePlate">
            <a:avLst/>
          </a:prstGeom>
          <a:solidFill>
            <a:srgbClr val="4A301E"/>
          </a:solidFill>
          <a:ln w="2540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19" y="1847088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130552"/>
            <a:ext cx="2743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Análisis y 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560320"/>
            <a:ext cx="27432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GDD, alcance, arquitectura y backlog</a:t>
            </a:r>
          </a:p>
        </p:txBody>
      </p:sp>
      <p:sp>
        <p:nvSpPr>
          <p:cNvPr id="10" name="Chevron 9"/>
          <p:cNvSpPr/>
          <p:nvPr/>
        </p:nvSpPr>
        <p:spPr>
          <a:xfrm>
            <a:off x="4343400" y="1783080"/>
            <a:ext cx="3703320" cy="1417320"/>
          </a:xfrm>
          <a:prstGeom prst="chevron">
            <a:avLst/>
          </a:prstGeom>
          <a:solidFill>
            <a:srgbClr val="C9551F"/>
          </a:solidFill>
          <a:ln w="2540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847088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30552"/>
            <a:ext cx="2743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Desarrollo iterativo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60320"/>
            <a:ext cx="27432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Sprints con versión jugable y revisión en equipo</a:t>
            </a:r>
          </a:p>
        </p:txBody>
      </p:sp>
      <p:sp>
        <p:nvSpPr>
          <p:cNvPr id="14" name="Chevron 13"/>
          <p:cNvSpPr/>
          <p:nvPr/>
        </p:nvSpPr>
        <p:spPr>
          <a:xfrm>
            <a:off x="8046719" y="1783080"/>
            <a:ext cx="3703320" cy="1417320"/>
          </a:xfrm>
          <a:prstGeom prst="chevron">
            <a:avLst/>
          </a:prstGeom>
          <a:solidFill>
            <a:srgbClr val="E8B04B"/>
          </a:solidFill>
          <a:ln w="2540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59" y="1847088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B1D14"/>
                </a:solidFill>
                <a:latin typeface="Calibri"/>
              </a:rPr>
              <a:t>Fase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130552"/>
            <a:ext cx="27432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B1D14"/>
                </a:solidFill>
                <a:latin typeface="Georgia"/>
              </a:rPr>
              <a:t>Pruebas y cierre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560320"/>
            <a:ext cx="27432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B1D14"/>
                </a:solidFill>
                <a:latin typeface="Calibri"/>
              </a:rPr>
              <a:t>Pruebas con usuarios, pulido y presentación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5349240" cy="1261872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_blue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601734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91639" y="3675887"/>
            <a:ext cx="4114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4096511"/>
            <a:ext cx="41148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Una rama por funcionalidad e integración con pull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66160"/>
            <a:ext cx="5349240" cy="1261872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_hammer_ba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931920"/>
            <a:ext cx="532504" cy="548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3675887"/>
            <a:ext cx="4114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Pruebas automatizadas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096511"/>
            <a:ext cx="41148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Scripts que ejecutan el juego sin interfaz y verifican cada sistema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9200"/>
            <a:ext cx="5349240" cy="1261872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_iron_dagg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394960"/>
            <a:ext cx="516367" cy="548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91639" y="5138928"/>
            <a:ext cx="4114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Revisión de 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39" y="5559552"/>
            <a:ext cx="41148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Cada sprint termina con una versión jugable que el equipo prueba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029200"/>
            <a:ext cx="5349240" cy="1261872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_alloy_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394960"/>
            <a:ext cx="548640" cy="548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23760" y="5138928"/>
            <a:ext cx="4114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B2A1E"/>
                </a:solidFill>
                <a:latin typeface="Georgia"/>
              </a:rPr>
              <a:t>Comunicación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559552"/>
            <a:ext cx="41148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5540"/>
                </a:solidFill>
                <a:latin typeface="Calibri"/>
              </a:rPr>
              <a:t>Coordinación diaria por WhatsApp y reunión al cierre del sprint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cla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84167" y="320040"/>
            <a:ext cx="402336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84167" y="320040"/>
            <a:ext cx="40233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F4E7CC"/>
                </a:solidFill>
                <a:latin typeface="Calibri"/>
              </a:rPr>
              <a:t>18 semanas · Fase 1: S1–S4 · Fase 2: S5–S16 · Fase 3: S17–S18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1365992" cy="498348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1000232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6634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8B04B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S9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S10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S11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S15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S16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S17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04B"/>
                          </a:solidFill>
                          <a:latin typeface="Calibri"/>
                        </a:rPr>
                        <a:t>S18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Definición del proyecto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7F9C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7F9C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Planificación y arquitectura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7F9C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7F9C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Fichas de metales y forja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Interfaz de usuario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Escenarios y exploración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Combate por turnos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Narrativa y diálogos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Persistencia y progresión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Arte y animaciones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Pruebas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Corrección y cierre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C955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B2A1E"/>
                          </a:solidFill>
                          <a:latin typeface="Calibri"/>
                        </a:rPr>
                        <a:t>Presentación final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8B0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marT="9144" marB="9144" anchor="ctr">
                    <a:solidFill>
                      <a:srgbClr val="E8B0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herre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69767" y="320040"/>
            <a:ext cx="585216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69767" y="320040"/>
            <a:ext cx="58521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Arquitectura del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65992" cy="507492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4A301E"/>
          </a:solidFill>
          <a:ln w="2540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2103120" cy="1188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Escenas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6916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26664" y="17647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Mundo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21305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Herrería, tienda, bosque, mina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6916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7647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Forja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305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Temperatura, impacto, temple y aleación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16916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7647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Combate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305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Turnos con acciones cronometradas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6916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17647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Interfaz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305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Menús, HUD, inventario, diálogos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57816" y="16916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17647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Cinemática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1305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Intro ilustrada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632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C9551F"/>
          </a:solidFill>
          <a:ln w="2540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063240"/>
            <a:ext cx="2103120" cy="1188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Servicios globales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0632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26664" y="31363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GameState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35021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Estado del mundo e historia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18304" y="30632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73168" y="31363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PlayerStats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5021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Estadísticas y equipo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808" y="30632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9672" y="31363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PlayerInventory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35021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Inventario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1312" y="30632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66176" y="31363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SaveManager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35021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Guardar y cargar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57816" y="3063240"/>
            <a:ext cx="1609344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12680" y="3136392"/>
            <a:ext cx="149961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TutorialManager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3502152"/>
            <a:ext cx="1499616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Consejos y guía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4348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E8B04B"/>
          </a:solidFill>
          <a:ln w="25400">
            <a:solidFill>
              <a:srgbClr val="2B1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4434840"/>
            <a:ext cx="2103120" cy="1188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B1D14"/>
                </a:solidFill>
                <a:latin typeface="Georgia"/>
              </a:rPr>
              <a:t>Datos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4434840"/>
            <a:ext cx="4229100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26664" y="4507992"/>
            <a:ext cx="41193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Recursos .tres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26664" y="4873752"/>
            <a:ext cx="4119372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Ítems, planos, materiales, monstruos y diálogos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38060" y="4434840"/>
            <a:ext cx="4229100" cy="1188720"/>
          </a:xfrm>
          <a:prstGeom prst="roundRect">
            <a:avLst>
              <a:gd name="adj" fmla="val 8000"/>
            </a:avLst>
          </a:prstGeom>
          <a:solidFill>
            <a:srgbClr val="EAD7B0"/>
          </a:solidFill>
          <a:ln w="1905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92924" y="4507992"/>
            <a:ext cx="41193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3B2A1E"/>
                </a:solidFill>
                <a:latin typeface="Calibri"/>
              </a:rPr>
              <a:t>Partidas 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92924" y="4873752"/>
            <a:ext cx="4119372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E5540"/>
                </a:solidFill>
                <a:latin typeface="Calibri"/>
              </a:rPr>
              <a:t>user://saves, 3 ranuras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60720"/>
            <a:ext cx="1088136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6E5540"/>
                </a:solidFill>
                <a:latin typeface="Calibri"/>
              </a:rPr>
              <a:t>Las escenas se comunican con los servicios mediante señales: cada sistema se desarrolla y prueba por separado, y tres personas pueden trabajar en paralelo.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tien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09847" y="320040"/>
            <a:ext cx="457200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9847" y="320040"/>
            <a:ext cx="457200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Modelo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65992" cy="512064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2423160" y="3520440"/>
            <a:ext cx="3675888" cy="594360"/>
          </a:xfrm>
          <a:prstGeom prst="line">
            <a:avLst/>
          </a:prstGeom>
          <a:ln w="31750">
            <a:solidFill>
              <a:srgbClr val="C955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99048" y="3520440"/>
            <a:ext cx="0" cy="594360"/>
          </a:xfrm>
          <a:prstGeom prst="line">
            <a:avLst/>
          </a:prstGeom>
          <a:ln w="31750">
            <a:solidFill>
              <a:srgbClr val="C955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6099048" y="3520440"/>
            <a:ext cx="3666744" cy="594360"/>
          </a:xfrm>
          <a:prstGeom prst="line">
            <a:avLst/>
          </a:prstGeom>
          <a:ln w="31750">
            <a:solidFill>
              <a:srgbClr val="C955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60520" y="2606040"/>
            <a:ext cx="201168" cy="0"/>
          </a:xfrm>
          <a:prstGeom prst="line">
            <a:avLst/>
          </a:prstGeom>
          <a:ln w="31750">
            <a:solidFill>
              <a:srgbClr val="6E55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169164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EAD7B0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2B1D1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c_wolf_f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64792"/>
            <a:ext cx="286153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1691640"/>
            <a:ext cx="283464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MonsterData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1546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B2A1E"/>
                </a:solidFill>
                <a:latin typeface="Calibri"/>
              </a:rPr>
              <a:t>id, nombre, HP, ataque, defensa, XP, oro, botín y probabilidades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69164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EAD7B0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61688" y="169164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C9551F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_iron_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1764792"/>
            <a:ext cx="39380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10327" y="1691640"/>
            <a:ext cx="283464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ItemData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286000"/>
            <a:ext cx="31546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B2A1E"/>
                </a:solidFill>
                <a:latin typeface="Calibri"/>
              </a:rPr>
              <a:t>id, nombre, descripción, ícono, tipo, apilable, máx. pila, valor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69164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EAD7B0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28431" y="169164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2B1D1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_alloy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764792"/>
            <a:ext cx="347472" cy="347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77072" y="1691640"/>
            <a:ext cx="283464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Partida (JSON)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2286000"/>
            <a:ext cx="31546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B2A1E"/>
                </a:solidFill>
                <a:latin typeface="Calibri"/>
              </a:rPr>
              <a:t>escena, estadísticas, inventario por ranura, dinero, progresión, mundo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1480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EAD7B0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411480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2B1D1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_copper_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187952"/>
            <a:ext cx="39380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4114800"/>
            <a:ext cx="283464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MaterialData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709160"/>
            <a:ext cx="31546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B2A1E"/>
                </a:solidFill>
                <a:latin typeface="Calibri"/>
              </a:rPr>
              <a:t>elemento, nivel, temp. de forja mín./máx. (°C), templable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1688" y="411480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EAD7B0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361688" y="411480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2B1D1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_iron_dag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4187952"/>
            <a:ext cx="32703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10327" y="4114800"/>
            <a:ext cx="283464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EquipmentData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4709160"/>
            <a:ext cx="31546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B2A1E"/>
                </a:solidFill>
                <a:latin typeface="Calibri"/>
              </a:rPr>
              <a:t>rareza, ranura, tipo de arma, bonos, requisitos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1" y="4114800"/>
            <a:ext cx="3474720" cy="1783080"/>
          </a:xfrm>
          <a:prstGeom prst="roundRect">
            <a:avLst>
              <a:gd name="adj" fmla="val 5000"/>
            </a:avLst>
          </a:prstGeom>
          <a:solidFill>
            <a:srgbClr val="EAD7B0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28431" y="4114800"/>
            <a:ext cx="3474720" cy="502920"/>
          </a:xfrm>
          <a:prstGeom prst="roundRect">
            <a:avLst>
              <a:gd name="adj" fmla="val 20000"/>
            </a:avLst>
          </a:prstGeom>
          <a:solidFill>
            <a:srgbClr val="2B1D1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c_bluepr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5592" y="4187952"/>
            <a:ext cx="381098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4114800"/>
            <a:ext cx="283464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BlueprintData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1" y="4709160"/>
            <a:ext cx="315468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B2A1E"/>
                </a:solidFill>
                <a:latin typeface="Calibri"/>
              </a:rPr>
              <a:t>equipo resultante, ingredientes, etapa requerida, probabilidad por rareza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6E5540"/>
                </a:solidFill>
                <a:latin typeface="Calibri"/>
              </a:rPr>
              <a:t>Flechas naranjas: herencia (Material, Equipo y Plano extienden a Ítem). Punteada: el botín del monstruo referencia ítems.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mi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44087" y="320040"/>
            <a:ext cx="530352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44087" y="320040"/>
            <a:ext cx="530352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Tecnologías utilizadas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_hammer_bas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352" y="1783080"/>
            <a:ext cx="576879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46888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Godot 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Motor de juego gratuito y de código abierto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_bluepr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783080"/>
            <a:ext cx="651879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0440" y="246888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GDScript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2608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Lenguaje de programación del juego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_iron_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1783080"/>
            <a:ext cx="673608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246888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Control de versiones y pull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6002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_alloy_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2952" y="1783080"/>
            <a:ext cx="594360" cy="594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06840" y="246888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Trello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92608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Backlog y seguimiento de sprints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2336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_copper_o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3352" y="4206240"/>
            <a:ext cx="673608" cy="594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489204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Aseprite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Edición y animación de pixel 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02336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_potion_m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6552" y="4206240"/>
            <a:ext cx="419548" cy="594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20440" y="489204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IA generativa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34924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Gemini: arte y animaciones, uso autorizado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02336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c_bronze_ing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9752" y="4206240"/>
            <a:ext cx="696836" cy="594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63640" y="489204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34924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Formato de las partidas guardadas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02336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c_bronze_dagg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2952" y="4206240"/>
            <a:ext cx="559398" cy="5943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06840" y="4892040"/>
            <a:ext cx="23774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itch.io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349240"/>
            <a:ext cx="2286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Plataforma gratuita de publicación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regres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535527" y="320040"/>
            <a:ext cx="512064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35527" y="320040"/>
            <a:ext cx="512064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Avance del 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F4E7CC"/>
                </a:solidFill>
                <a:latin typeface="Calibri"/>
              </a:rPr>
              <a:t>Capturas reales del juego en desarrollo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581912"/>
            <a:ext cx="3648456" cy="2286000"/>
          </a:xfrm>
          <a:prstGeom prst="roundRect">
            <a:avLst>
              <a:gd name="adj" fmla="val 3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_all_TallerSce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45920"/>
            <a:ext cx="3520440" cy="18213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417320" y="3364991"/>
            <a:ext cx="1874519" cy="384048"/>
          </a:xfrm>
          <a:prstGeom prst="roundRect">
            <a:avLst>
              <a:gd name="adj" fmla="val 30000"/>
            </a:avLst>
          </a:prstGeom>
          <a:solidFill>
            <a:srgbClr val="2B1D14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3364991"/>
            <a:ext cx="187451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8B04B"/>
                </a:solidFill>
                <a:latin typeface="Calibri"/>
              </a:rPr>
              <a:t>Herrería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581912"/>
            <a:ext cx="3648456" cy="2286000"/>
          </a:xfrm>
          <a:prstGeom prst="roundRect">
            <a:avLst>
              <a:gd name="adj" fmla="val 3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_all_TiendaSce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645920"/>
            <a:ext cx="3520440" cy="18213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120640" y="3364991"/>
            <a:ext cx="1874519" cy="384048"/>
          </a:xfrm>
          <a:prstGeom prst="roundRect">
            <a:avLst>
              <a:gd name="adj" fmla="val 30000"/>
            </a:avLst>
          </a:prstGeom>
          <a:solidFill>
            <a:srgbClr val="2B1D14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3364991"/>
            <a:ext cx="187451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8B04B"/>
                </a:solidFill>
                <a:latin typeface="Calibri"/>
              </a:rPr>
              <a:t>Tienda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1581912"/>
            <a:ext cx="3648456" cy="2286000"/>
          </a:xfrm>
          <a:prstGeom prst="roundRect">
            <a:avLst>
              <a:gd name="adj" fmla="val 3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_all_MinaPasillo3Scen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1645920"/>
            <a:ext cx="3520440" cy="182133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823960" y="3364991"/>
            <a:ext cx="1874519" cy="384048"/>
          </a:xfrm>
          <a:prstGeom prst="roundRect">
            <a:avLst>
              <a:gd name="adj" fmla="val 30000"/>
            </a:avLst>
          </a:prstGeom>
          <a:solidFill>
            <a:srgbClr val="2B1D14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3364991"/>
            <a:ext cx="187451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8B04B"/>
                </a:solidFill>
                <a:latin typeface="Calibri"/>
              </a:rPr>
              <a:t>Mina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4096511"/>
            <a:ext cx="3648456" cy="2286000"/>
          </a:xfrm>
          <a:prstGeom prst="roundRect">
            <a:avLst>
              <a:gd name="adj" fmla="val 3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_combate_nuev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160520"/>
            <a:ext cx="3520440" cy="182133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417320" y="5879592"/>
            <a:ext cx="1874519" cy="384048"/>
          </a:xfrm>
          <a:prstGeom prst="roundRect">
            <a:avLst>
              <a:gd name="adj" fmla="val 30000"/>
            </a:avLst>
          </a:prstGeom>
          <a:solidFill>
            <a:srgbClr val="2B1D14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17320" y="5879592"/>
            <a:ext cx="187451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8B04B"/>
                </a:solidFill>
                <a:latin typeface="Calibri"/>
              </a:rPr>
              <a:t>Combate por turnos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4096511"/>
            <a:ext cx="3648456" cy="2286000"/>
          </a:xfrm>
          <a:prstGeom prst="roundRect">
            <a:avLst>
              <a:gd name="adj" fmla="val 3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_introall_0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4160520"/>
            <a:ext cx="3520440" cy="182133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120640" y="5879592"/>
            <a:ext cx="1874519" cy="384048"/>
          </a:xfrm>
          <a:prstGeom prst="roundRect">
            <a:avLst>
              <a:gd name="adj" fmla="val 30000"/>
            </a:avLst>
          </a:prstGeom>
          <a:solidFill>
            <a:srgbClr val="2B1D14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5943888"/>
            <a:ext cx="1874519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300" b="1" dirty="0">
                <a:solidFill>
                  <a:srgbClr val="E8B04B"/>
                </a:solidFill>
                <a:latin typeface="Calibri"/>
              </a:rPr>
              <a:t>Historia</a:t>
            </a:r>
            <a:endParaRPr sz="1300" b="1" i="0" dirty="0">
              <a:solidFill>
                <a:srgbClr val="E8B04B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36992" y="4096511"/>
            <a:ext cx="3648456" cy="2286000"/>
          </a:xfrm>
          <a:prstGeom prst="roundRect">
            <a:avLst>
              <a:gd name="adj" fmla="val 3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_inventario_arrastra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4160520"/>
            <a:ext cx="3520440" cy="182133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23960" y="5879592"/>
            <a:ext cx="1874519" cy="384048"/>
          </a:xfrm>
          <a:prstGeom prst="roundRect">
            <a:avLst>
              <a:gd name="adj" fmla="val 30000"/>
            </a:avLst>
          </a:prstGeom>
          <a:solidFill>
            <a:srgbClr val="2B1D14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23960" y="5879592"/>
            <a:ext cx="187451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8B04B"/>
                </a:solidFill>
                <a:latin typeface="Calibri"/>
              </a:rPr>
              <a:t>Inventario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exteri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69767" y="320040"/>
            <a:ext cx="585216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69767" y="320040"/>
            <a:ext cx="58521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Evidencias comprometidas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65992" cy="507492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90879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5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B04B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B04B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8B04B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27432" marR="27432" marT="9144" marB="9144"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E6B2F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2A1E"/>
                          </a:solidFill>
                          <a:latin typeface="Calibri"/>
                        </a:rPr>
                        <a:t>Documento de diseño (GDD)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A1E"/>
                          </a:solidFill>
                          <a:latin typeface="Calibri"/>
                        </a:rPr>
                        <a:t>Documento con el alcance del corte vertical, mecánicas, narrativa, contenidos didácticos y estado de implementación.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E6B2F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2A1E"/>
                          </a:solidFill>
                          <a:latin typeface="Calibri"/>
                        </a:rPr>
                        <a:t>Versión jugable de avance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A1E"/>
                          </a:solidFill>
                          <a:latin typeface="Calibri"/>
                        </a:rPr>
                        <a:t>Ejecutable con las fichas de metales, la forja, la herrería explorable, el inventario y la mina.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E6B2F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2A1E"/>
                          </a:solidFill>
                          <a:latin typeface="Calibri"/>
                        </a:rPr>
                        <a:t>Repositorio y tablero de tareas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A1E"/>
                          </a:solidFill>
                          <a:latin typeface="Calibri"/>
                        </a:rPr>
                        <a:t>Repositorio en GitHub con historial de commits y pull requests, y tablero Trello con el backlog y los sprints.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9551F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2A1E"/>
                          </a:solidFill>
                          <a:latin typeface="Calibri"/>
                        </a:rPr>
                        <a:t>Videojuego final (corte vertical)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A1E"/>
                          </a:solidFill>
                          <a:latin typeface="Calibri"/>
                        </a:rPr>
                        <a:t>Ejecutable para Windows con todos los sistemas integrados, publicable en itch.io.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9551F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2A1E"/>
                          </a:solidFill>
                          <a:latin typeface="Calibri"/>
                        </a:rPr>
                        <a:t>Informe de pruebas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A1E"/>
                          </a:solidFill>
                          <a:latin typeface="Calibri"/>
                        </a:rPr>
                        <a:t>Resultados de las pruebas automatizadas y de las pruebas con estudiantes de metalurgia, incluyendo una encuesta sobre comprensión de las propiedades de los metales.</a:t>
                      </a:r>
                    </a:p>
                  </a:txBody>
                  <a:tcPr marL="27432" marR="27432" marT="9144" marB="9144" anchor="ctr">
                    <a:solidFill>
                      <a:srgbClr val="F4E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9551F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2A1E"/>
                          </a:solidFill>
                          <a:latin typeface="Calibri"/>
                        </a:rPr>
                        <a:t>Informe final y presentación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A1E"/>
                          </a:solidFill>
                          <a:latin typeface="Calibri"/>
                        </a:rPr>
                        <a:t>Documento final del proyecto y presentación con demostración en vivo ante la comisión.</a:t>
                      </a:r>
                    </a:p>
                  </a:txBody>
                  <a:tcPr marL="27432" marR="27432" marT="9144" marB="9144" anchor="ctr">
                    <a:solidFill>
                      <a:srgbClr val="EAD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d_intermed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44087" y="320040"/>
            <a:ext cx="530352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44087" y="320040"/>
            <a:ext cx="530352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Factibilidad y riesgos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4114800" cy="507492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6576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3E6B2F"/>
                </a:solidFill>
                <a:latin typeface="Georgia"/>
              </a:rPr>
              <a:t>Por qué es factible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657600" cy="4297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18 semanas con alcance acotado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Herramientas gratuitas: sin presupuesto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Prototipo previo del ciclo de forja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Roles definidos para trabajar en paralelo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9551F"/>
                </a:solidFill>
                <a:latin typeface="Calibri"/>
              </a:rPr>
              <a:t>✔ </a:t>
            </a:r>
            <a:r>
              <a:rPr sz="1600" b="0" i="0">
                <a:solidFill>
                  <a:srgbClr val="3B2A1E"/>
                </a:solidFill>
                <a:latin typeface="Calibri"/>
              </a:rPr>
              <a:t>Godot tiene amplia documentación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463040"/>
            <a:ext cx="3108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B04B"/>
                </a:solidFill>
                <a:latin typeface="Georgia"/>
              </a:rPr>
              <a:t>Riesgo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463040"/>
            <a:ext cx="31089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8B04B"/>
                </a:solidFill>
                <a:latin typeface="Georgia"/>
              </a:rPr>
              <a:t>Mitigación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965960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F6D9C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28803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Práctica profesional en paralelo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38160" y="2212848"/>
            <a:ext cx="292608" cy="274320"/>
          </a:xfrm>
          <a:prstGeom prst="rightArrow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58200" y="1965960"/>
            <a:ext cx="3154680" cy="777240"/>
          </a:xfrm>
          <a:prstGeom prst="roundRect">
            <a:avLst>
              <a:gd name="adj" fmla="val 10000"/>
            </a:avLst>
          </a:prstGeom>
          <a:solidFill>
            <a:srgbClr val="F4E7CC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965960"/>
            <a:ext cx="292608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Sprints cortos y backlog priorizado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880360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F6D9C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880360"/>
            <a:ext cx="28803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Pérdida de trabajo (ya ocurrió)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138160" y="3127248"/>
            <a:ext cx="292608" cy="274320"/>
          </a:xfrm>
          <a:prstGeom prst="rightArrow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58200" y="2880360"/>
            <a:ext cx="3154680" cy="777240"/>
          </a:xfrm>
          <a:prstGeom prst="roundRect">
            <a:avLst>
              <a:gd name="adj" fmla="val 10000"/>
            </a:avLst>
          </a:prstGeom>
          <a:solidFill>
            <a:srgbClr val="F4E7CC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2880360"/>
            <a:ext cx="292608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GitHub como fuente única y respaldos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794760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F6D9C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3794760"/>
            <a:ext cx="28803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Conflictos al integrar código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138160" y="4041648"/>
            <a:ext cx="292608" cy="274320"/>
          </a:xfrm>
          <a:prstGeom prst="rightArrow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58200" y="3794760"/>
            <a:ext cx="3154680" cy="777240"/>
          </a:xfrm>
          <a:prstGeom prst="roundRect">
            <a:avLst>
              <a:gd name="adj" fmla="val 10000"/>
            </a:avLst>
          </a:prstGeom>
          <a:solidFill>
            <a:srgbClr val="F4E7CC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3794760"/>
            <a:ext cx="292608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Ramas por funcionalidad y pull requests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4709160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F6D9C4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4709160"/>
            <a:ext cx="288036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Dependencia del arte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138160" y="4956048"/>
            <a:ext cx="292608" cy="274320"/>
          </a:xfrm>
          <a:prstGeom prst="rightArrow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58200" y="4709160"/>
            <a:ext cx="3154680" cy="777240"/>
          </a:xfrm>
          <a:prstGeom prst="roundRect">
            <a:avLst>
              <a:gd name="adj" fmla="val 10000"/>
            </a:avLst>
          </a:prstGeom>
          <a:solidFill>
            <a:srgbClr val="F4E7CC"/>
          </a:solidFill>
          <a:ln w="254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0" y="4709160"/>
            <a:ext cx="292608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B2A1E"/>
                </a:solidFill>
                <a:latin typeface="Calibri"/>
              </a:rPr>
              <a:t>Recursos provisionales e IA autorizada</a:t>
            </a:r>
          </a:p>
        </p:txBody>
      </p:sp>
      <p:pic>
        <p:nvPicPr>
          <p:cNvPr id="30" name="Picture 29" descr="wo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5623560"/>
            <a:ext cx="1781251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lde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D14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E8B04B"/>
                </a:solidFill>
                <a:latin typeface="Georgia"/>
              </a:rPr>
              <a:t>¡Gracias por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E8B04B"/>
                </a:solidFill>
                <a:latin typeface="Georgia"/>
              </a:rPr>
              <a:t>su atención!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886200"/>
            <a:ext cx="2926080" cy="54864"/>
          </a:xfrm>
          <a:prstGeom prst="rect">
            <a:avLst/>
          </a:prstGeom>
          <a:solidFill>
            <a:srgbClr val="C9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73152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F4E7CC"/>
                </a:solidFill>
                <a:latin typeface="Calibri"/>
              </a:rPr>
              <a:t>Preguntas de la comisión</a:t>
            </a:r>
          </a:p>
        </p:txBody>
      </p:sp>
      <p:pic>
        <p:nvPicPr>
          <p:cNvPr id="8" name="Picture 7" descr="ser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0"/>
            <a:ext cx="1682496" cy="4206240"/>
          </a:xfrm>
          <a:prstGeom prst="rect">
            <a:avLst/>
          </a:prstGeom>
        </p:spPr>
      </p:pic>
      <p:pic>
        <p:nvPicPr>
          <p:cNvPr id="9" name="Picture 8" descr="aid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2377440"/>
            <a:ext cx="16943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d_entr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621127" y="320040"/>
            <a:ext cx="6949440" cy="777240"/>
          </a:xfrm>
          <a:prstGeom prst="roundRect">
            <a:avLst>
              <a:gd name="adj" fmla="val 18000"/>
            </a:avLst>
          </a:prstGeom>
          <a:solidFill>
            <a:srgbClr val="2B1D14"/>
          </a:solidFill>
          <a:ln w="317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21127" y="320040"/>
            <a:ext cx="694944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E8B04B"/>
                </a:solidFill>
                <a:latin typeface="Georgia"/>
              </a:rPr>
              <a:t>De la mina al lingote: minerales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F4E7CC"/>
                </a:solidFill>
                <a:latin typeface="Calibri"/>
              </a:rPr>
              <a:t>Cada metal se obtiene de minerales reales; el estudiante los identifica y los funde (datos de referencia)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5699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1755648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Hematita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1828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9551F"/>
                </a:solidFill>
                <a:latin typeface="Calibri"/>
              </a:rPr>
              <a:t>Fe₂O₃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Metal: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Hierro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Contenido: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~70 % 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23774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Rojiza a gris metálica; raya roja.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828800"/>
            <a:ext cx="569976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0" y="1755648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Calcopirita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103120"/>
            <a:ext cx="1828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9551F"/>
                </a:solidFill>
                <a:latin typeface="Calibri"/>
              </a:rPr>
              <a:t>CuFeS₂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56032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Metal: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Cobre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88036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Contenido: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~35 % 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46120"/>
            <a:ext cx="23774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Amarillo dorado; principal mena de cobre en Chile.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4592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569976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49440" y="1755648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Malaquita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103120"/>
            <a:ext cx="1828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9551F"/>
                </a:solidFill>
                <a:latin typeface="Calibri"/>
              </a:rPr>
              <a:t>Cu₂CO₃(OH)₂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6032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Metal: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Cobre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8036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Contenido: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~57 % 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46120"/>
            <a:ext cx="23774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Verde intenso, con bandas.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64592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4E7CC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828800"/>
            <a:ext cx="569976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84080" y="1755648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B2A1E"/>
                </a:solidFill>
                <a:latin typeface="Georgia"/>
              </a:rPr>
              <a:t>Casiterita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03120"/>
            <a:ext cx="1828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9551F"/>
                </a:solidFill>
                <a:latin typeface="Calibri"/>
              </a:rPr>
              <a:t>SnO₂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56032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Metal: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Estaño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88036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B2A1E"/>
                </a:solidFill>
                <a:latin typeface="Calibri"/>
              </a:rPr>
              <a:t>Contenido: </a:t>
            </a:r>
            <a:r>
              <a:rPr sz="1400" b="0" i="0">
                <a:solidFill>
                  <a:srgbClr val="3B2A1E"/>
                </a:solidFill>
                <a:latin typeface="Calibri"/>
              </a:rPr>
              <a:t>~79 % Sn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246120"/>
            <a:ext cx="23774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5540"/>
                </a:solidFill>
                <a:latin typeface="Calibri"/>
              </a:rPr>
              <a:t>Café oscuro a negra, muy densa.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663440"/>
            <a:ext cx="11201400" cy="1920240"/>
          </a:xfrm>
          <a:prstGeom prst="roundRect">
            <a:avLst>
              <a:gd name="adj" fmla="val 4000"/>
            </a:avLst>
          </a:prstGeom>
          <a:solidFill>
            <a:srgbClr val="2B1D14"/>
          </a:solidFill>
          <a:ln w="38100">
            <a:solidFill>
              <a:srgbClr val="6B44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entagon 34"/>
          <p:cNvSpPr/>
          <p:nvPr/>
        </p:nvSpPr>
        <p:spPr>
          <a:xfrm>
            <a:off x="731520" y="4892040"/>
            <a:ext cx="2194560" cy="914400"/>
          </a:xfrm>
          <a:prstGeom prst="homePlate">
            <a:avLst/>
          </a:prstGeom>
          <a:solidFill>
            <a:srgbClr val="4A301E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892040"/>
            <a:ext cx="164592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Mineral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97880"/>
            <a:ext cx="219456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4E7CC"/>
                </a:solidFill>
                <a:latin typeface="Calibri"/>
              </a:rPr>
              <a:t>Se extrae en la mina</a:t>
            </a:r>
          </a:p>
        </p:txBody>
      </p:sp>
      <p:sp>
        <p:nvSpPr>
          <p:cNvPr id="38" name="Chevron 37"/>
          <p:cNvSpPr/>
          <p:nvPr/>
        </p:nvSpPr>
        <p:spPr>
          <a:xfrm>
            <a:off x="2944368" y="4892040"/>
            <a:ext cx="2194560" cy="914400"/>
          </a:xfrm>
          <a:prstGeom prst="chevron">
            <a:avLst/>
          </a:prstGeom>
          <a:solidFill>
            <a:srgbClr val="C9551F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4408" y="4892040"/>
            <a:ext cx="164592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Concentración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4368" y="5897880"/>
            <a:ext cx="219456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4E7CC"/>
                </a:solidFill>
                <a:latin typeface="Calibri"/>
              </a:rPr>
              <a:t>Se separa la parte útil</a:t>
            </a:r>
          </a:p>
        </p:txBody>
      </p:sp>
      <p:sp>
        <p:nvSpPr>
          <p:cNvPr id="41" name="Chevron 40"/>
          <p:cNvSpPr/>
          <p:nvPr/>
        </p:nvSpPr>
        <p:spPr>
          <a:xfrm>
            <a:off x="5157216" y="4892040"/>
            <a:ext cx="2194560" cy="914400"/>
          </a:xfrm>
          <a:prstGeom prst="chevron">
            <a:avLst/>
          </a:prstGeom>
          <a:solidFill>
            <a:srgbClr val="D97A1F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77255" y="4892040"/>
            <a:ext cx="164592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Fundición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7216" y="5897880"/>
            <a:ext cx="219456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4E7CC"/>
                </a:solidFill>
                <a:latin typeface="Calibri"/>
              </a:rPr>
              <a:t>Metal fundido + escoria</a:t>
            </a:r>
          </a:p>
        </p:txBody>
      </p:sp>
      <p:sp>
        <p:nvSpPr>
          <p:cNvPr id="44" name="Chevron 43"/>
          <p:cNvSpPr/>
          <p:nvPr/>
        </p:nvSpPr>
        <p:spPr>
          <a:xfrm>
            <a:off x="7370064" y="4892040"/>
            <a:ext cx="2194560" cy="914400"/>
          </a:xfrm>
          <a:prstGeom prst="chevron">
            <a:avLst/>
          </a:prstGeom>
          <a:solidFill>
            <a:srgbClr val="E8B04B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0104" y="4892040"/>
            <a:ext cx="164592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B1D14"/>
                </a:solidFill>
                <a:latin typeface="Georgia"/>
              </a:rPr>
              <a:t>Lingote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897880"/>
            <a:ext cx="219456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4E7CC"/>
                </a:solidFill>
                <a:latin typeface="Calibri"/>
              </a:rPr>
              <a:t>Metal listo para trabajar</a:t>
            </a:r>
          </a:p>
        </p:txBody>
      </p:sp>
      <p:sp>
        <p:nvSpPr>
          <p:cNvPr id="47" name="Chevron 46"/>
          <p:cNvSpPr/>
          <p:nvPr/>
        </p:nvSpPr>
        <p:spPr>
          <a:xfrm>
            <a:off x="9582912" y="4892040"/>
            <a:ext cx="2194560" cy="914400"/>
          </a:xfrm>
          <a:prstGeom prst="chevron">
            <a:avLst/>
          </a:prstGeom>
          <a:solidFill>
            <a:srgbClr val="EAD7B0"/>
          </a:solidFill>
          <a:ln w="19050">
            <a:solidFill>
              <a:srgbClr val="E8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02952" y="4892040"/>
            <a:ext cx="164592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B1D14"/>
                </a:solidFill>
                <a:latin typeface="Georgia"/>
              </a:rPr>
              <a:t>Forja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82912" y="5897880"/>
            <a:ext cx="219456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4E7CC"/>
                </a:solidFill>
                <a:latin typeface="Calibri"/>
              </a:rPr>
              <a:t>Se observan sus propiedades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1890</Words>
  <Application>Microsoft Office PowerPoint</Application>
  <PresentationFormat>Panorámica</PresentationFormat>
  <Paragraphs>294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Millán</cp:lastModifiedBy>
  <cp:revision>2</cp:revision>
  <dcterms:created xsi:type="dcterms:W3CDTF">2013-01-27T09:14:16Z</dcterms:created>
  <dcterms:modified xsi:type="dcterms:W3CDTF">2026-10-16T12:51:52Z</dcterms:modified>
  <cp:category/>
</cp:coreProperties>
</file>