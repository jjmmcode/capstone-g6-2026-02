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59" r:id="rId4"/>
    <p:sldId id="260" r:id="rId5"/>
    <p:sldId id="274" r:id="rId6"/>
    <p:sldId id="262" r:id="rId7"/>
    <p:sldId id="276" r:id="rId8"/>
    <p:sldId id="264" r:id="rId9"/>
    <p:sldId id="265" r:id="rId10"/>
    <p:sldId id="268" r:id="rId11"/>
    <p:sldId id="266" r:id="rId12"/>
    <p:sldId id="269" r:id="rId13"/>
    <p:sldId id="275" r:id="rId14"/>
    <p:sldId id="272" r:id="rId15"/>
    <p:sldId id="273" r:id="rId16"/>
    <p:sldId id="261" r:id="rId17"/>
    <p:sldId id="263" r:id="rId18"/>
    <p:sldId id="267" r:id="rId19"/>
    <p:sldId id="270" r:id="rId20"/>
    <p:sldId id="271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rko loncon" userId="827ad9408100a45d" providerId="LiveId" clId="{5B506CAC-8DA0-4B84-849B-72A823F8B7DF}"/>
    <pc:docChg chg="modSld">
      <pc:chgData name="yerko loncon" userId="827ad9408100a45d" providerId="LiveId" clId="{5B506CAC-8DA0-4B84-849B-72A823F8B7DF}" dt="2026-10-21T19:01:53.589" v="1" actId="20577"/>
      <pc:docMkLst>
        <pc:docMk/>
      </pc:docMkLst>
      <pc:sldChg chg="modSp mod">
        <pc:chgData name="yerko loncon" userId="827ad9408100a45d" providerId="LiveId" clId="{5B506CAC-8DA0-4B84-849B-72A823F8B7DF}" dt="2026-10-21T19:01:53.589" v="1" actId="20577"/>
        <pc:sldMkLst>
          <pc:docMk/>
          <pc:sldMk cId="0" sldId="256"/>
        </pc:sldMkLst>
        <pc:spChg chg="mod">
          <ac:chgData name="yerko loncon" userId="827ad9408100a45d" providerId="LiveId" clId="{5B506CAC-8DA0-4B84-849B-72A823F8B7DF}" dt="2026-10-21T19:01:53.589" v="1" actId="20577"/>
          <ac:spMkLst>
            <pc:docMk/>
            <pc:sldMk cId="0" sldId="256"/>
            <ac:spMk id="1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8180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Presentamos Anvil of Ambition, un videojuego 2D hecho en Godot para apoyar a estudiantes de metalurgia: les permite ver los distintos minerales y metales, cuáles se forjan y a qué temperatura son maleables. Roles: Felipe, planificación, diseño del juego, contenido didáctico, narrativa, escenarios y arte; Joel, menú principal, pausa, HUD e inventario; Yerko, combate por turnos y comportamiento de los enemigos.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Este es el recorrido de la presentación.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problema es educativo y apunta a estudiantes de metalurgia: deben manejar muchas propiedades de minerales y metales que hoy aprenden desde tablas. En Chile, país minero, la metalurgia es una formación relevante.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cadena completa: el estudiante encuentra minerales reales, consulta su ficha, los funde para obtener el metal y luego compara cómo se comporta cada metal al calentarlo. La forja es el medio para observar, no el objetivo de aprendizaje.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Los seis objetivos específicos guían cada etapa del proyecto y se verifican al final del semestre.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Elegimos un corte vertical: mejor un fragmento completo y pulido que muchos sistemas a medias.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Usamos la metodología en cascada: cada etapa se completa antes de pasar a la siguiente. Primero planificamos el alcance, los roles y los tiempos; luego diseñamos las mecánicas, el contenido didáctico y la arquitectura; después construimos el juego integrando los módulos de forma progresiva; lo probamos, incluso con estudiantes de metalurgia; y finalmente lo publicamos en itch.io y lo presentamos.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Fase 1: definición y planificación. Fase 2: diseño, implementación y pruebas, con frentes paralelos por rol. Fase 3: presentación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Todas las herramientas son gratuitas, así que el proyecto no requiere presupuesto.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arquitectura es simple: el juego es un ejecutable de Godot que corre en el computador del jugador y guarda las partidas en archivos JSON locales. Se publica y descarga gratis desde itch.io. No requiere servidor ni conexión a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Ya existe un prototipo funcional: escenarios conectados, forja, inventario, mina, combate y cinemática. Aquí hacemos la demostración en vivo: forja con temperatura real, crisol de bronce, Diario del herrero y combate.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Gracias. Quedamos atentos a las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es la parte de metalurgia extractiva, alineada con la especialidad de Metalurgia Extractiva del currículum nacional: el estudiante identifica minerales reales, conoce su fórmula y contenido de metal, y ve el paso de mineral a lingote mediante la fundición, donde el metal se separa de la escoria.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Este es el contenido didáctico: por cada metal, el punto de fusión, el rango de temperatura en que es maleable y su maleabilidad relativa. Por ejemplo, el hierro se forja entre unos 900 y 1.150 grados, el estaño no se forja y se usa para alear, y el color indica la temperatura. Son valores aproximados de referencia.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Elegimos un corte vertical: mejor un fragmento completo y pulido que muchos sistemas a medias.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partida guarda cuatro grupos de datos: el jugador, su inventario, su progreso como herrero y el estado del mundo. Los datos fijos del contenido, como las fichas de minerales y metales, se definen como recursos dentro del juego.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Estas son las evidencias para el avance y la entrega final; cada una se vincula con un objetivo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proyecto es factible por el alcance acotado y las herramientas gratuitas. Estos son los cuatro riesgos principales y cómo los mitigamos.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jp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jp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9.png"/><Relationship Id="rId4" Type="http://schemas.openxmlformats.org/officeDocument/2006/relationships/image" Target="../media/image11.png"/><Relationship Id="rId9" Type="http://schemas.openxmlformats.org/officeDocument/2006/relationships/image" Target="../media/image18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0.jp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7.png"/><Relationship Id="rId4" Type="http://schemas.openxmlformats.org/officeDocument/2006/relationships/image" Target="../media/image9.png"/><Relationship Id="rId9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3.jp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2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4.png"/><Relationship Id="rId5" Type="http://schemas.openxmlformats.org/officeDocument/2006/relationships/image" Target="../media/image9.png"/><Relationship Id="rId10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g"/><Relationship Id="rId3" Type="http://schemas.openxmlformats.org/officeDocument/2006/relationships/image" Target="../media/image26.jpg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jpg"/><Relationship Id="rId5" Type="http://schemas.openxmlformats.org/officeDocument/2006/relationships/image" Target="../media/image27.jpg"/><Relationship Id="rId4" Type="http://schemas.openxmlformats.org/officeDocument/2006/relationships/image" Target="../media/image18.jpg"/><Relationship Id="rId9" Type="http://schemas.openxmlformats.org/officeDocument/2006/relationships/image" Target="../media/image31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7.png"/><Relationship Id="rId7" Type="http://schemas.openxmlformats.org/officeDocument/2006/relationships/image" Target="../media/image15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11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6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la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1D1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228600" y="228600"/>
            <a:ext cx="23317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uo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265176"/>
            <a:ext cx="2267712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417320"/>
            <a:ext cx="777240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 i="0">
                <a:solidFill>
                  <a:srgbClr val="E8B04B"/>
                </a:solidFill>
                <a:latin typeface="Georgia"/>
              </a:rPr>
              <a:t>ANVIL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777240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E8B04B"/>
                </a:solidFill>
                <a:latin typeface="Georgia"/>
              </a:rPr>
              <a:t>OF AMBITION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520440"/>
            <a:ext cx="2926080" cy="54864"/>
          </a:xfrm>
          <a:prstGeom prst="rect">
            <a:avLst/>
          </a:prstGeom>
          <a:solidFill>
            <a:srgbClr val="C9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73152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 i="0">
                <a:solidFill>
                  <a:srgbClr val="F4E7CC"/>
                </a:solidFill>
                <a:latin typeface="Calibri"/>
              </a:rPr>
              <a:t>Videojuego 2D de apoyo para estudiantes de metalurgia</a:t>
            </a:r>
          </a:p>
          <a:p>
            <a:pPr algn="l">
              <a:spcAft>
                <a:spcPts val="200"/>
              </a:spcAft>
            </a:pPr>
            <a:r>
              <a:rPr sz="2000" b="0" i="0">
                <a:solidFill>
                  <a:srgbClr val="F4E7CC"/>
                </a:solidFill>
                <a:latin typeface="Calibri"/>
              </a:rPr>
              <a:t>Definición del proyecto · Fase 1 Capstone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7315200" cy="51193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 dirty="0">
                <a:solidFill>
                  <a:srgbClr val="F4E7CC"/>
                </a:solidFill>
                <a:latin typeface="Calibri"/>
              </a:rPr>
              <a:t>Por: Felipe Millán · </a:t>
            </a:r>
            <a:r>
              <a:rPr lang="es-ES" sz="1400" b="0" i="0" dirty="0">
                <a:solidFill>
                  <a:srgbClr val="F4E7CC"/>
                </a:solidFill>
                <a:latin typeface="Calibri"/>
              </a:rPr>
              <a:t>Joel Medina </a:t>
            </a:r>
            <a:r>
              <a:rPr sz="1400" b="0" i="0" dirty="0">
                <a:solidFill>
                  <a:srgbClr val="F4E7CC"/>
                </a:solidFill>
                <a:latin typeface="Calibri"/>
              </a:rPr>
              <a:t>· </a:t>
            </a:r>
            <a:r>
              <a:rPr lang="es-ES" sz="1400" b="0" i="0" dirty="0">
                <a:solidFill>
                  <a:srgbClr val="F4E7CC"/>
                </a:solidFill>
                <a:latin typeface="Calibri"/>
              </a:rPr>
              <a:t>Yerko Loncón</a:t>
            </a:r>
            <a:endParaRPr sz="1400" b="0" i="0" dirty="0">
              <a:solidFill>
                <a:srgbClr val="F4E7CC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400" b="0" i="0" dirty="0">
                <a:solidFill>
                  <a:srgbClr val="F4E7CC"/>
                </a:solidFill>
                <a:latin typeface="Calibri"/>
              </a:rPr>
              <a:t>Ingeniería </a:t>
            </a:r>
            <a:r>
              <a:rPr sz="1400" b="0" i="0" dirty="0" err="1">
                <a:solidFill>
                  <a:srgbClr val="F4E7CC"/>
                </a:solidFill>
                <a:latin typeface="Calibri"/>
              </a:rPr>
              <a:t>en</a:t>
            </a:r>
            <a:r>
              <a:rPr sz="1400" b="0" i="0" dirty="0">
                <a:solidFill>
                  <a:srgbClr val="F4E7CC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4E7CC"/>
                </a:solidFill>
                <a:latin typeface="Calibri"/>
              </a:rPr>
              <a:t>Informática</a:t>
            </a:r>
            <a:r>
              <a:rPr sz="1400" b="0" i="0" dirty="0">
                <a:solidFill>
                  <a:srgbClr val="F4E7CC"/>
                </a:solidFill>
                <a:latin typeface="Calibri"/>
              </a:rPr>
              <a:t> · Duoc UC</a:t>
            </a:r>
          </a:p>
        </p:txBody>
      </p:sp>
      <p:pic>
        <p:nvPicPr>
          <p:cNvPr id="11" name="Picture 10" descr="edric_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2240280"/>
            <a:ext cx="1805135" cy="4206240"/>
          </a:xfrm>
          <a:prstGeom prst="rect">
            <a:avLst/>
          </a:prstGeom>
        </p:spPr>
      </p:pic>
      <p:pic>
        <p:nvPicPr>
          <p:cNvPr id="12" name="Picture 11" descr="aid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2514600"/>
            <a:ext cx="1619026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herre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992727" y="320040"/>
            <a:ext cx="420624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92727" y="320040"/>
            <a:ext cx="420624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Hoja de ruta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84048" y="180136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pic>
        <p:nvPicPr>
          <p:cNvPr id="7" name="Picture 6" descr="ic_potion_h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9171" y="2103120"/>
            <a:ext cx="355002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51460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Problemática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3304" y="196596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648712" y="180136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pic>
        <p:nvPicPr>
          <p:cNvPr id="11" name="Picture 10" descr="ic_hammer_bas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7272" y="2103120"/>
            <a:ext cx="488128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04744" y="251460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Solución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7296" y="397764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442704" y="381304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pic>
        <p:nvPicPr>
          <p:cNvPr id="15" name="Picture 14" descr="ic_bronze_ing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0513" y="4114800"/>
            <a:ext cx="58963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98736" y="452628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Mejoras futuras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7968" y="196596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913376" y="180136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pic>
        <p:nvPicPr>
          <p:cNvPr id="19" name="Picture 18" descr="ic_bluepri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0205" y="2103120"/>
            <a:ext cx="55159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69408" y="251460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 dirty="0" err="1">
                <a:solidFill>
                  <a:srgbClr val="3B2A1E"/>
                </a:solidFill>
                <a:latin typeface="Georgia"/>
              </a:rPr>
              <a:t>Objetivos</a:t>
            </a:r>
            <a:endParaRPr sz="1500" b="1" i="0" dirty="0">
              <a:solidFill>
                <a:srgbClr val="3B2A1E"/>
              </a:solidFill>
              <a:latin typeface="Georgia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9607296" y="196596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442704" y="180136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pic>
        <p:nvPicPr>
          <p:cNvPr id="27" name="Picture 26" descr="ic_alloy_bo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73868" y="210312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698736" y="251460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Metodología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97764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84048" y="381304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pic>
        <p:nvPicPr>
          <p:cNvPr id="31" name="Picture 30" descr="ic_iron_o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1684" y="4114800"/>
            <a:ext cx="569976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452628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Cronograma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7968" y="397764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913376" y="381304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pic>
        <p:nvPicPr>
          <p:cNvPr id="35" name="Picture 34" descr="ic_tin_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11012" y="4114800"/>
            <a:ext cx="569976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169408" y="452628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Arquitectura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813304" y="397764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2648712" y="381304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pic>
        <p:nvPicPr>
          <p:cNvPr id="39" name="Picture 38" descr="ic_iron_dag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94668" y="4114800"/>
            <a:ext cx="473336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904744" y="452628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Tecnologías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42632" y="397764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178040" y="381304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pic>
        <p:nvPicPr>
          <p:cNvPr id="43" name="Picture 42" descr="ic_bronze_dagg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3996" y="4114800"/>
            <a:ext cx="473336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434072" y="452628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Demo</a:t>
            </a:r>
          </a:p>
        </p:txBody>
      </p:sp>
      <p:sp>
        <p:nvSpPr>
          <p:cNvPr id="201" name="Rounded Rectangle 28"/>
          <p:cNvSpPr/>
          <p:nvPr/>
        </p:nvSpPr>
        <p:spPr>
          <a:xfrm>
            <a:off x="7342632" y="196596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Oval 29"/>
          <p:cNvSpPr/>
          <p:nvPr/>
        </p:nvSpPr>
        <p:spPr>
          <a:xfrm>
            <a:off x="7178040" y="180136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pic>
        <p:nvPicPr>
          <p:cNvPr id="203" name="Picture 4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75676" y="2103120"/>
            <a:ext cx="569976" cy="502920"/>
          </a:xfrm>
          <a:prstGeom prst="rect">
            <a:avLst/>
          </a:prstGeom>
        </p:spPr>
      </p:pic>
      <p:sp>
        <p:nvSpPr>
          <p:cNvPr id="204" name="TextBox 31"/>
          <p:cNvSpPr txBox="1"/>
          <p:nvPr/>
        </p:nvSpPr>
        <p:spPr>
          <a:xfrm>
            <a:off x="7434072" y="251460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Alcances y limitaciones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exteri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992727" y="320040"/>
            <a:ext cx="420624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92727" y="320040"/>
            <a:ext cx="420624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Problemática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7863840" cy="484632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7223760" cy="43891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2200"/>
              </a:spcAft>
            </a:pPr>
            <a:r>
              <a:rPr sz="2300" b="1" i="0">
                <a:solidFill>
                  <a:srgbClr val="C9551F"/>
                </a:solidFill>
                <a:latin typeface="Calibri"/>
              </a:rPr>
              <a:t>◆ </a:t>
            </a:r>
            <a:r>
              <a:rPr sz="2300" b="0" i="0">
                <a:solidFill>
                  <a:srgbClr val="3B2A1E"/>
                </a:solidFill>
                <a:latin typeface="Calibri"/>
              </a:rPr>
              <a:t>Los estudiantes de metalurgia deben conocer las propiedades de muchos minerales y metales: cuáles se pueden forjar, a qué temperatura se vuelven maleables, su punto de fusión y cómo cambian al alearse.</a:t>
            </a:r>
          </a:p>
          <a:p>
            <a:pPr algn="l">
              <a:spcAft>
                <a:spcPts val="2200"/>
              </a:spcAft>
            </a:pPr>
            <a:r>
              <a:rPr sz="2300" b="1" i="0">
                <a:solidFill>
                  <a:srgbClr val="C9551F"/>
                </a:solidFill>
                <a:latin typeface="Calibri"/>
              </a:rPr>
              <a:t>◆ </a:t>
            </a:r>
            <a:r>
              <a:rPr sz="2300" b="0" i="0">
                <a:solidFill>
                  <a:srgbClr val="3B2A1E"/>
                </a:solidFill>
                <a:latin typeface="Calibri"/>
              </a:rPr>
              <a:t>Esa información suele estar en tablas y textos teóricos: es difícil de visualizar, comparar y retener.</a:t>
            </a:r>
          </a:p>
          <a:p>
            <a:pPr algn="l">
              <a:spcAft>
                <a:spcPts val="2200"/>
              </a:spcAft>
            </a:pPr>
            <a:r>
              <a:rPr sz="2300" b="1" i="0">
                <a:solidFill>
                  <a:srgbClr val="C9551F"/>
                </a:solidFill>
                <a:latin typeface="Calibri"/>
              </a:rPr>
              <a:t>◆ </a:t>
            </a:r>
            <a:r>
              <a:rPr sz="2300" b="0" i="0">
                <a:solidFill>
                  <a:srgbClr val="3B2A1E"/>
                </a:solidFill>
                <a:latin typeface="Calibri"/>
              </a:rPr>
              <a:t>Falta una herramienta interactiva donde puedan ver cómo se comporta cada metal, en lugar de solo memorizar sus datos.</a:t>
            </a:r>
          </a:p>
        </p:txBody>
      </p:sp>
      <p:pic>
        <p:nvPicPr>
          <p:cNvPr id="7" name="Picture 6" descr="ed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828800"/>
            <a:ext cx="188803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herre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718407" y="320040"/>
            <a:ext cx="475488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718407" y="320040"/>
            <a:ext cx="475488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Nuestra solución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760720" cy="49377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5212080" cy="1371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3B2A1E"/>
                </a:solidFill>
                <a:latin typeface="Calibri"/>
              </a:rPr>
              <a:t>Anvil of Ambition</a:t>
            </a:r>
            <a:r>
              <a:rPr sz="1900" b="0" i="0">
                <a:solidFill>
                  <a:srgbClr val="3B2A1E"/>
                </a:solidFill>
                <a:latin typeface="Calibri"/>
              </a:rPr>
              <a:t> es un laboratorio interactivo de metalurgia en forma de videojuego de rol 2D.</a:t>
            </a:r>
          </a:p>
        </p:txBody>
      </p:sp>
      <p:pic>
        <p:nvPicPr>
          <p:cNvPr id="7" name="Picture 6" descr="ic_iron_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16352"/>
            <a:ext cx="51816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73166" y="3196721"/>
            <a:ext cx="3403107" cy="2271391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>
              <a:spcAft>
                <a:spcPts val="1200"/>
              </a:spcAft>
            </a:pPr>
            <a:r>
              <a:rPr lang="es-ES" sz="1600" b="1" dirty="0">
                <a:solidFill>
                  <a:srgbClr val="C9551F"/>
                </a:solidFill>
              </a:rPr>
              <a:t>Nuestra propuesta se basa en la creación de un videojuego 2D de rol en Godot </a:t>
            </a:r>
            <a:r>
              <a:rPr lang="es-ES" sz="1600" dirty="0">
                <a:solidFill>
                  <a:srgbClr val="3B2A1E"/>
                </a:solidFill>
              </a:rPr>
              <a:t>que funciona como un laboratorio interactivo de metalurgia: el estudiante encuentra minerales reales, los funde, forja cada metal a distintas temperaturas y prueba aleaciones como el bronce, para así comprender y recordar las propiedades de cada metal.</a:t>
            </a:r>
          </a:p>
        </p:txBody>
      </p:sp>
      <p:pic>
        <p:nvPicPr>
          <p:cNvPr id="9" name="Picture 8" descr="ic_copper_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547872"/>
            <a:ext cx="457200" cy="457200"/>
          </a:xfrm>
          <a:prstGeom prst="rect">
            <a:avLst/>
          </a:prstGeom>
        </p:spPr>
      </p:pic>
      <p:pic>
        <p:nvPicPr>
          <p:cNvPr id="11" name="Picture 10" descr="ic_hammer_bas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279392"/>
            <a:ext cx="518160" cy="457200"/>
          </a:xfrm>
          <a:prstGeom prst="rect">
            <a:avLst/>
          </a:prstGeom>
        </p:spPr>
      </p:pic>
      <p:pic>
        <p:nvPicPr>
          <p:cNvPr id="13" name="Picture 12" descr="ic_potion_m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010912"/>
            <a:ext cx="518160" cy="457200"/>
          </a:xfrm>
          <a:prstGeom prst="rect">
            <a:avLst/>
          </a:prstGeom>
        </p:spPr>
      </p:pic>
      <p:pic>
        <p:nvPicPr>
          <p:cNvPr id="15" name="Picture 14" descr="ic_bronze_ingo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5742432"/>
            <a:ext cx="536027" cy="4572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629400" y="1783080"/>
            <a:ext cx="5120640" cy="29718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810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_all_TallerScen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1874519"/>
            <a:ext cx="4937760" cy="25546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29400" y="4800600"/>
            <a:ext cx="512064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1">
                <a:solidFill>
                  <a:srgbClr val="F4E7CC"/>
                </a:solidFill>
                <a:latin typeface="Calibri"/>
              </a:rPr>
              <a:t>La herrería del prototipo</a:t>
            </a:r>
          </a:p>
        </p:txBody>
      </p:sp>
      <p:pic>
        <p:nvPicPr>
          <p:cNvPr id="20" name="Picture 19" descr="yunq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66960" y="5074920"/>
            <a:ext cx="1327441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75120" y="5303520"/>
            <a:ext cx="3200400" cy="11887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8B04B"/>
                </a:solidFill>
                <a:latin typeface="Calibri"/>
              </a:rPr>
              <a:t>La forja es el medio para observar cómo se comporta cada metal.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bifurcac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44087" y="320040"/>
            <a:ext cx="530352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44087" y="465516"/>
            <a:ext cx="5303520" cy="486287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 dirty="0" err="1">
                <a:solidFill>
                  <a:srgbClr val="E8B04B"/>
                </a:solidFill>
                <a:latin typeface="Georgia"/>
              </a:rPr>
              <a:t>Objetiv</a:t>
            </a:r>
            <a:r>
              <a:rPr lang="es-CL" sz="2800" b="1" i="0" dirty="0">
                <a:solidFill>
                  <a:srgbClr val="E8B04B"/>
                </a:solidFill>
                <a:latin typeface="Georgia"/>
              </a:rPr>
              <a:t>o</a:t>
            </a:r>
            <a:r>
              <a:rPr sz="2800" b="1" i="0" dirty="0">
                <a:solidFill>
                  <a:srgbClr val="E8B04B"/>
                </a:solidFill>
                <a:latin typeface="Georgia"/>
              </a:rPr>
              <a:t> general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0000"/>
            <a:ext cx="8500000" cy="3300000"/>
          </a:xfrm>
          <a:prstGeom prst="roundRect">
            <a:avLst>
              <a:gd name="adj" fmla="val 4000"/>
            </a:avLst>
          </a:prstGeom>
          <a:solidFill>
            <a:srgbClr val="2B1D14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0000" y="2350000"/>
            <a:ext cx="7800000" cy="5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E8B04B"/>
                </a:solidFill>
                <a:latin typeface="Georgia"/>
              </a:rPr>
              <a:t>Objetivo general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000" y="3050000"/>
            <a:ext cx="7800000" cy="210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F4E7CC"/>
                </a:solidFill>
                <a:latin typeface="Calibri"/>
              </a:rPr>
              <a:t>Desarrollar un videojuego 2D en Godot que apoye a estudiantes de metalurgia en el aprendizaje de las propiedades de minerales y metales (forjabilidad, temperatura de maleabilidad, punto de fusión y aleaciones), entregando un corte vertical jugable al término del semestre.</a:t>
            </a:r>
          </a:p>
        </p:txBody>
      </p:sp>
      <p:pic>
        <p:nvPicPr>
          <p:cNvPr id="40" name="Picture 39" descr="aid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0000" y="2300000"/>
            <a:ext cx="1780000" cy="432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bifurcac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44087" y="320040"/>
            <a:ext cx="530352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44087" y="320040"/>
            <a:ext cx="530352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Objetivos específicos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000"/>
            <a:ext cx="5285232" cy="1450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96112" y="2068968"/>
            <a:ext cx="512064" cy="512064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700000"/>
            <a:ext cx="3840480" cy="12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2A1E"/>
                </a:solidFill>
                <a:latin typeface="Calibri"/>
              </a:rPr>
              <a:t>Diseñar el juego en un GDD con alcance, mecánicas, narrativa y contenidos didácticos.</a:t>
            </a:r>
          </a:p>
        </p:txBody>
      </p:sp>
      <p:pic>
        <p:nvPicPr>
          <p:cNvPr id="11" name="Picture 10" descr="ic_bluepr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3248" y="2096400"/>
            <a:ext cx="501445" cy="457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1600000"/>
            <a:ext cx="5285232" cy="1450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336792" y="2068968"/>
            <a:ext cx="512064" cy="512064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700000"/>
            <a:ext cx="3840480" cy="12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2A1E"/>
                </a:solidFill>
                <a:latin typeface="Calibri"/>
              </a:rPr>
              <a:t>Implementar fichas de minerales y metales con datos reales y una forja para observarlos.</a:t>
            </a:r>
          </a:p>
        </p:txBody>
      </p:sp>
      <p:pic>
        <p:nvPicPr>
          <p:cNvPr id="15" name="Picture 14" descr="ic_hammer_bas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3928" y="2096400"/>
            <a:ext cx="443753" cy="4572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31520" y="3250000"/>
            <a:ext cx="5285232" cy="1450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96112" y="3718968"/>
            <a:ext cx="512064" cy="512064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50000"/>
            <a:ext cx="3840480" cy="12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2A1E"/>
                </a:solidFill>
                <a:latin typeface="Calibri"/>
              </a:rPr>
              <a:t>Implementar inventario, equipamiento, estadísticas, progresión y economía.</a:t>
            </a:r>
          </a:p>
        </p:txBody>
      </p:sp>
      <p:pic>
        <p:nvPicPr>
          <p:cNvPr id="19" name="Picture 18" descr="ic_band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3248" y="3746400"/>
            <a:ext cx="430306" cy="4572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72200" y="3250000"/>
            <a:ext cx="5285232" cy="1450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36792" y="3718968"/>
            <a:ext cx="512064" cy="512064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3350000"/>
            <a:ext cx="3840480" cy="12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2A1E"/>
                </a:solidFill>
                <a:latin typeface="Calibri"/>
              </a:rPr>
              <a:t>Implementar exploración, recolección y combate por turnos cronometrado.</a:t>
            </a:r>
          </a:p>
        </p:txBody>
      </p:sp>
      <p:pic>
        <p:nvPicPr>
          <p:cNvPr id="23" name="Picture 22" descr="ic_iron_dagg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928" y="3746400"/>
            <a:ext cx="430306" cy="4572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731520" y="4900000"/>
            <a:ext cx="5285232" cy="1450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96112" y="5368968"/>
            <a:ext cx="512064" cy="512064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000000"/>
            <a:ext cx="3840480" cy="12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2A1E"/>
                </a:solidFill>
                <a:latin typeface="Calibri"/>
              </a:rPr>
              <a:t>Implementar la narrativa (diálogos y cinemática) y el guardado de partidas.</a:t>
            </a:r>
          </a:p>
        </p:txBody>
      </p:sp>
      <p:pic>
        <p:nvPicPr>
          <p:cNvPr id="27" name="Picture 26" descr="ic_alloy_bo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3248" y="5396400"/>
            <a:ext cx="457200" cy="4572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4900000"/>
            <a:ext cx="5285232" cy="1450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336792" y="5368968"/>
            <a:ext cx="512064" cy="512064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5000000"/>
            <a:ext cx="3840480" cy="12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2A1E"/>
                </a:solidFill>
                <a:latin typeface="Calibri"/>
              </a:rPr>
              <a:t>Validar el producto con pruebas automatizadas y con estudiantes de metalurgia.</a:t>
            </a:r>
          </a:p>
        </p:txBody>
      </p:sp>
      <p:pic>
        <p:nvPicPr>
          <p:cNvPr id="31" name="Picture 30" descr="ic_potion_h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53928" y="5396400"/>
            <a:ext cx="322729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m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69767" y="320040"/>
            <a:ext cx="585216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69767" y="320040"/>
            <a:ext cx="58521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Alcances y limitaciones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57800" cy="489204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3E6B2F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257800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Incluye (corte vertical)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4663440" cy="4023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Fichas de minerales y metales con datos reales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Herrería, tienda, bosque y mina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Inventario, equipo, estadísticas y economía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Progresión del herrero (Principiante)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Combate por turnos con 2 tipos de lobo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Diálogos y cinemática del tutorial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Guardado en 3 ranuras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57800" cy="489204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C9551F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1554480"/>
            <a:ext cx="5257800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Fuera de alcance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31720"/>
            <a:ext cx="4663440" cy="4023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Juego completo: solo un fragmento jugable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Solo metales (sin hueso ni cristal)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Sin mejoras +1/+10 ni durabilidad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Sin segundo piso de la herrería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Solo PC (Windows)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Arte generado con IA, autorizado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Contenido de nivel introductorio a técnico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pati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352647" y="320040"/>
            <a:ext cx="548640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352647" y="320040"/>
            <a:ext cx="548640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Metodología: Cascada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77295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F4E7CC"/>
                </a:solidFill>
                <a:latin typeface="Calibri"/>
              </a:rPr>
              <a:t>Cada etapa se completa antes de pasar a la siguiente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743200" cy="960120"/>
          </a:xfrm>
          <a:prstGeom prst="roundRect">
            <a:avLst>
              <a:gd name="adj" fmla="val 12000"/>
            </a:avLst>
          </a:prstGeom>
          <a:solidFill>
            <a:srgbClr val="4A301E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920240"/>
            <a:ext cx="55159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1737360"/>
            <a:ext cx="192024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Planificación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03120"/>
            <a:ext cx="192024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Alcance, roles y tiempos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606040"/>
            <a:ext cx="2743200" cy="960120"/>
          </a:xfrm>
          <a:prstGeom prst="roundRect">
            <a:avLst>
              <a:gd name="adj" fmla="val 12000"/>
            </a:avLst>
          </a:prstGeom>
          <a:solidFill>
            <a:srgbClr val="C9551F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79" y="283464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20439" y="2651760"/>
            <a:ext cx="192024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Diseño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39" y="3017520"/>
            <a:ext cx="192024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Mecánicas, contenido didáctico y arquitectura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3520440"/>
            <a:ext cx="2743200" cy="960120"/>
          </a:xfrm>
          <a:prstGeom prst="roundRect">
            <a:avLst>
              <a:gd name="adj" fmla="val 12000"/>
            </a:avLst>
          </a:prstGeom>
          <a:solidFill>
            <a:srgbClr val="D97A1F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3749039"/>
            <a:ext cx="488128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0" y="3566160"/>
            <a:ext cx="192024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Implementación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3931920"/>
            <a:ext cx="192024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Construcción según lo diseñado e integración progresiva de módulos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4434840"/>
            <a:ext cx="2743200" cy="960120"/>
          </a:xfrm>
          <a:prstGeom prst="roundRect">
            <a:avLst>
              <a:gd name="adj" fmla="val 12000"/>
            </a:avLst>
          </a:prstGeom>
          <a:solidFill>
            <a:srgbClr val="E8B04B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3760" y="4663440"/>
            <a:ext cx="473336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818120" y="4480559"/>
            <a:ext cx="192024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B1D14"/>
                </a:solidFill>
                <a:latin typeface="Georgia"/>
              </a:rPr>
              <a:t>Pruebas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4846320"/>
            <a:ext cx="192024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2B1D14"/>
                </a:solidFill>
                <a:latin typeface="Calibri"/>
              </a:rPr>
              <a:t>Pruebas del juego y con estudiantes de metalurgia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5349240"/>
            <a:ext cx="2743200" cy="960120"/>
          </a:xfrm>
          <a:prstGeom prst="roundRect">
            <a:avLst>
              <a:gd name="adj" fmla="val 12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2600" y="5577840"/>
            <a:ext cx="58963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66960" y="5394959"/>
            <a:ext cx="192024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B1D14"/>
                </a:solidFill>
                <a:latin typeface="Georgia"/>
              </a:rPr>
              <a:t>Entrega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5760720"/>
            <a:ext cx="192024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2B1D14"/>
                </a:solidFill>
                <a:latin typeface="Calibri"/>
              </a:rPr>
              <a:t>Publicación en itch.io y presentación final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cla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084167" y="320040"/>
            <a:ext cx="402336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084167" y="320040"/>
            <a:ext cx="40233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77295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F4E7CC"/>
                </a:solidFill>
                <a:latin typeface="Calibri"/>
              </a:rPr>
              <a:t>18 semanas · Fase 1: S1–S4 · Fase 2: S5–S16 · Fase 3: S17–S18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00200"/>
            <a:ext cx="11365992" cy="49834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783080"/>
          <a:ext cx="11000232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B04B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Definición del proyecto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7F9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7F9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Planificación y arquitectura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7F9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7F9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Fichas de metales y forja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Interfaz de usuario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Escenarios y exploración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Combate por turnos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Narrativa y diálogos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Persistencia y progresión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Arte y animaciones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Pruebas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Corrección y cierre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Presentación final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8B0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8B0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m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44087" y="320040"/>
            <a:ext cx="530352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44087" y="320040"/>
            <a:ext cx="530352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Tecnologías utilizadas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c_hammer_bas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3352" y="1783080"/>
            <a:ext cx="57687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Godot 4.7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Motor de juego gratuito y de código abierto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_bluepr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552" y="1783080"/>
            <a:ext cx="651879" cy="594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04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GDScript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Lenguaje de programación del juego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c_iron_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9752" y="1783080"/>
            <a:ext cx="673608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36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GitHub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Control de versiones y pull requests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c_alloy_boo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952" y="1783080"/>
            <a:ext cx="594360" cy="594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068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Trello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Seguimiento de tareas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_copper_o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73352" y="4206240"/>
            <a:ext cx="673608" cy="594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Aseprite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Edición y animación de pixel art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c_potion_m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16552" y="4206240"/>
            <a:ext cx="419548" cy="594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5204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IA generativa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Gemini: arte y animaciones, uso autorizado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c_bronze_ingo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59752" y="4206240"/>
            <a:ext cx="696836" cy="5943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636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Formato de las partidas guardadas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154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c_bronze_dag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02952" y="4206240"/>
            <a:ext cx="559398" cy="5943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068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itch.io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Plataforma gratuita de publicación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herre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69767" y="320040"/>
            <a:ext cx="585216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69767" y="320040"/>
            <a:ext cx="58521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Arquitectura del software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486400" cy="38404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486400" cy="502920"/>
          </a:xfrm>
          <a:prstGeom prst="roundRect">
            <a:avLst>
              <a:gd name="adj" fmla="val 15000"/>
            </a:avLst>
          </a:prstGeom>
          <a:solidFill>
            <a:srgbClr val="2B1D14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4864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E8B04B"/>
                </a:solidFill>
                <a:latin typeface="Georgia"/>
              </a:rPr>
              <a:t>Computador del jugador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737360"/>
            <a:ext cx="4069080" cy="38404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06640" y="1737360"/>
            <a:ext cx="4069080" cy="502920"/>
          </a:xfrm>
          <a:prstGeom prst="roundRect">
            <a:avLst>
              <a:gd name="adj" fmla="val 15000"/>
            </a:avLst>
          </a:prstGeom>
          <a:solidFill>
            <a:srgbClr val="2B1D14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06640" y="1737360"/>
            <a:ext cx="406908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E8B04B"/>
                </a:solidFill>
                <a:latin typeface="Georgia"/>
              </a:rPr>
              <a:t>itch.io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2606040"/>
            <a:ext cx="2194560" cy="182880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2743200"/>
            <a:ext cx="532504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3337560"/>
            <a:ext cx="21945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Juego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703320"/>
            <a:ext cx="2011679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Ejecutable hecho en Godot (GDScript)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60" y="2606040"/>
            <a:ext cx="2194560" cy="182880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274320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94760" y="3337560"/>
            <a:ext cx="21945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Partidas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703320"/>
            <a:ext cx="2011679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Archivos JSON guardados en el equipo (3 ranuras)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3520440"/>
            <a:ext cx="548639" cy="0"/>
          </a:xfrm>
          <a:prstGeom prst="line">
            <a:avLst/>
          </a:prstGeom>
          <a:ln w="38100">
            <a:solidFill>
              <a:srgbClr val="C9551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4663440"/>
            <a:ext cx="512064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Todo funciona localmente: no necesita internet ni servidor para jugar.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606040"/>
            <a:ext cx="2423160" cy="182880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6859" y="2743200"/>
            <a:ext cx="601734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29600" y="3337560"/>
            <a:ext cx="24231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Página del juego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2240279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Publicación y descarga gratuita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263640" y="3520440"/>
            <a:ext cx="1920239" cy="0"/>
          </a:xfrm>
          <a:prstGeom prst="line">
            <a:avLst/>
          </a:prstGeom>
          <a:ln w="38100">
            <a:solidFill>
              <a:srgbClr val="E8B0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72200" y="2926080"/>
            <a:ext cx="12801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8B04B"/>
                </a:solidFill>
                <a:latin typeface="Calibri"/>
              </a:rPr>
              <a:t>Descarga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regres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724247" y="320040"/>
            <a:ext cx="274320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724247" y="320040"/>
            <a:ext cx="274320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77295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F4E7CC"/>
                </a:solidFill>
                <a:latin typeface="Calibri"/>
              </a:rPr>
              <a:t>Demostración en vivo · capturas reales del juego en desarrollo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581912"/>
            <a:ext cx="3648456" cy="22860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_all_TallerSce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45920"/>
            <a:ext cx="3520440" cy="18213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417320" y="3364991"/>
            <a:ext cx="1874519" cy="384048"/>
          </a:xfrm>
          <a:prstGeom prst="roundRect">
            <a:avLst>
              <a:gd name="adj" fmla="val 30000"/>
            </a:avLst>
          </a:prstGeom>
          <a:solidFill>
            <a:srgbClr val="2B1D14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17320" y="3364991"/>
            <a:ext cx="1874519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8B04B"/>
                </a:solidFill>
                <a:latin typeface="Calibri"/>
              </a:rPr>
              <a:t>Herrería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581912"/>
            <a:ext cx="3648456" cy="22860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c_all_TiendaSce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1645920"/>
            <a:ext cx="3520440" cy="182133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0" y="3364991"/>
            <a:ext cx="1874519" cy="384048"/>
          </a:xfrm>
          <a:prstGeom prst="roundRect">
            <a:avLst>
              <a:gd name="adj" fmla="val 30000"/>
            </a:avLst>
          </a:prstGeom>
          <a:solidFill>
            <a:srgbClr val="2B1D14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0640" y="3364991"/>
            <a:ext cx="1874519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8B04B"/>
                </a:solidFill>
                <a:latin typeface="Calibri"/>
              </a:rPr>
              <a:t>Tienda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1581912"/>
            <a:ext cx="3648456" cy="22860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_all_MinaPasillo3Scen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1645920"/>
            <a:ext cx="3520440" cy="182133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823960" y="3364991"/>
            <a:ext cx="1874519" cy="384048"/>
          </a:xfrm>
          <a:prstGeom prst="roundRect">
            <a:avLst>
              <a:gd name="adj" fmla="val 30000"/>
            </a:avLst>
          </a:prstGeom>
          <a:solidFill>
            <a:srgbClr val="2B1D14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23960" y="3364991"/>
            <a:ext cx="1874519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8B04B"/>
                </a:solidFill>
                <a:latin typeface="Calibri"/>
              </a:rPr>
              <a:t>Mina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" y="4096511"/>
            <a:ext cx="3648456" cy="22860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c_combate_nuevo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4160520"/>
            <a:ext cx="3520440" cy="1821339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417320" y="5879592"/>
            <a:ext cx="1874519" cy="384048"/>
          </a:xfrm>
          <a:prstGeom prst="roundRect">
            <a:avLst>
              <a:gd name="adj" fmla="val 30000"/>
            </a:avLst>
          </a:prstGeom>
          <a:solidFill>
            <a:srgbClr val="2B1D14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17320" y="5879592"/>
            <a:ext cx="1874519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8B04B"/>
                </a:solidFill>
                <a:latin typeface="Calibri"/>
              </a:rPr>
              <a:t>Combate por turnos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33672" y="4096511"/>
            <a:ext cx="3648456" cy="22860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c_introall_0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680" y="4160520"/>
            <a:ext cx="3520440" cy="1821339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5120640" y="5879592"/>
            <a:ext cx="1874519" cy="384048"/>
          </a:xfrm>
          <a:prstGeom prst="roundRect">
            <a:avLst>
              <a:gd name="adj" fmla="val 30000"/>
            </a:avLst>
          </a:prstGeom>
          <a:solidFill>
            <a:srgbClr val="2B1D14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20640" y="5943888"/>
            <a:ext cx="1874519" cy="25545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300" b="1" dirty="0">
                <a:solidFill>
                  <a:srgbClr val="E8B04B"/>
                </a:solidFill>
                <a:latin typeface="Calibri"/>
              </a:rPr>
              <a:t>Historia</a:t>
            </a:r>
            <a:endParaRPr sz="1300" b="1" i="0" dirty="0">
              <a:solidFill>
                <a:srgbClr val="E8B04B"/>
              </a:solidFill>
              <a:latin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936992" y="4096511"/>
            <a:ext cx="3648456" cy="22860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_inventario_arrastrar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0" y="4160520"/>
            <a:ext cx="3520440" cy="1821339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823960" y="5879592"/>
            <a:ext cx="1874519" cy="384048"/>
          </a:xfrm>
          <a:prstGeom prst="roundRect">
            <a:avLst>
              <a:gd name="adj" fmla="val 30000"/>
            </a:avLst>
          </a:prstGeom>
          <a:solidFill>
            <a:srgbClr val="2B1D14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23960" y="5879592"/>
            <a:ext cx="1874519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8B04B"/>
                </a:solidFill>
                <a:latin typeface="Calibri"/>
              </a:rPr>
              <a:t>Inventario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min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44087" y="320040"/>
            <a:ext cx="530352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44087" y="320040"/>
            <a:ext cx="530352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Mejoras futuras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c_hammer_bas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352" y="1783080"/>
            <a:ext cx="57687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Juego completo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Más capítulos y más etapas de herrero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_bluepr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1783080"/>
            <a:ext cx="651879" cy="594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04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Más escenarios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Segundo piso de la herrería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c_iron_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9752" y="1783080"/>
            <a:ext cx="673608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36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Más materiales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Hueso y cristal, además de metales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c_alloy_bo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2952" y="1783080"/>
            <a:ext cx="594360" cy="594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068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Más aleaciones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Acero y latón, con sus proporciones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_copper_o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3352" y="4206240"/>
            <a:ext cx="673608" cy="594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Fundición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Fichas de cada mineral y escoria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c_potion_m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6552" y="4206240"/>
            <a:ext cx="419548" cy="594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5204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Validación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Pruebas y encuesta con estudiantes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c_bronze_ing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59752" y="4206240"/>
            <a:ext cx="696836" cy="5943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636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Más plataformas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Además de PC (Windows)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154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c_bronze_dagg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2952" y="4206240"/>
            <a:ext cx="559398" cy="5943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068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Mejorar equipo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Mejoras +1/+10 y durabilidad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alde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1D1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31520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E8B04B"/>
                </a:solidFill>
                <a:latin typeface="Georgia"/>
              </a:rPr>
              <a:t>¡Gracias por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731520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E8B04B"/>
                </a:solidFill>
                <a:latin typeface="Georgia"/>
              </a:rPr>
              <a:t>su atención!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886200"/>
            <a:ext cx="2926080" cy="54864"/>
          </a:xfrm>
          <a:prstGeom prst="rect">
            <a:avLst/>
          </a:prstGeom>
          <a:solidFill>
            <a:srgbClr val="C9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731520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F4E7CC"/>
                </a:solidFill>
                <a:latin typeface="Calibri"/>
              </a:rPr>
              <a:t>Preguntas de la comisión</a:t>
            </a:r>
          </a:p>
        </p:txBody>
      </p:sp>
      <p:pic>
        <p:nvPicPr>
          <p:cNvPr id="8" name="Picture 7" descr="ser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286000"/>
            <a:ext cx="1682496" cy="4206240"/>
          </a:xfrm>
          <a:prstGeom prst="rect">
            <a:avLst/>
          </a:prstGeom>
        </p:spPr>
      </p:pic>
      <p:pic>
        <p:nvPicPr>
          <p:cNvPr id="9" name="Picture 8" descr="aid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80" y="2377440"/>
            <a:ext cx="1694329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entra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621127" y="320040"/>
            <a:ext cx="694944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621127" y="320040"/>
            <a:ext cx="694944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De la mina al lingote: minerales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77295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F4E7CC"/>
                </a:solidFill>
                <a:latin typeface="Calibri"/>
              </a:rPr>
              <a:t>Cada metal se obtiene de minerales reales; el estudiante los identifica y los funde (datos de referencia)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28800"/>
            <a:ext cx="569976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1755648"/>
            <a:ext cx="182880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Hematita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103120"/>
            <a:ext cx="18288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9551F"/>
                </a:solidFill>
                <a:latin typeface="Calibri"/>
              </a:rPr>
              <a:t>Fe₂O₃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Metal: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Hierro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8036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Contenido: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~70 % 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46120"/>
            <a:ext cx="237744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Rojiza a gris metálica; raya roja.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645920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1828800"/>
            <a:ext cx="569976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14800" y="1755648"/>
            <a:ext cx="182880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Calcopirita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103120"/>
            <a:ext cx="18288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9551F"/>
                </a:solidFill>
                <a:latin typeface="Calibri"/>
              </a:rPr>
              <a:t>CuFeS₂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56032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Metal: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Cobre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88036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Contenido: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~35 % Cu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246120"/>
            <a:ext cx="237744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Amarillo dorado; principal mena de cobre en Chile.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645920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828800"/>
            <a:ext cx="569976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1755648"/>
            <a:ext cx="182880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Malaquita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103120"/>
            <a:ext cx="18288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9551F"/>
                </a:solidFill>
                <a:latin typeface="Calibri"/>
              </a:rPr>
              <a:t>Cu₂CO₃(OH)₂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56032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Metal: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Cobre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88036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Contenido: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~57 % Cu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246120"/>
            <a:ext cx="237744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Verde intenso, con bandas.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1645920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0" y="1828800"/>
            <a:ext cx="569976" cy="502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784080" y="1755648"/>
            <a:ext cx="182880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Casiterita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103120"/>
            <a:ext cx="18288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9551F"/>
                </a:solidFill>
                <a:latin typeface="Calibri"/>
              </a:rPr>
              <a:t>SnO₂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256032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Metal: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Estaño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88036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Contenido: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~79 % Sn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3246120"/>
            <a:ext cx="237744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Café oscuro a negra, muy densa.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663440"/>
            <a:ext cx="11201400" cy="1920240"/>
          </a:xfrm>
          <a:prstGeom prst="roundRect">
            <a:avLst>
              <a:gd name="adj" fmla="val 4000"/>
            </a:avLst>
          </a:prstGeom>
          <a:solidFill>
            <a:srgbClr val="2B1D14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Pentagon 34"/>
          <p:cNvSpPr/>
          <p:nvPr/>
        </p:nvSpPr>
        <p:spPr>
          <a:xfrm>
            <a:off x="731520" y="4892040"/>
            <a:ext cx="2194560" cy="914400"/>
          </a:xfrm>
          <a:prstGeom prst="homePlate">
            <a:avLst/>
          </a:prstGeom>
          <a:solidFill>
            <a:srgbClr val="4A301E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51560" y="4892040"/>
            <a:ext cx="1645920" cy="9144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Mineral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897880"/>
            <a:ext cx="219456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F4E7CC"/>
                </a:solidFill>
                <a:latin typeface="Calibri"/>
              </a:rPr>
              <a:t>Se extrae en la mina</a:t>
            </a:r>
          </a:p>
        </p:txBody>
      </p:sp>
      <p:sp>
        <p:nvSpPr>
          <p:cNvPr id="38" name="Chevron 37"/>
          <p:cNvSpPr/>
          <p:nvPr/>
        </p:nvSpPr>
        <p:spPr>
          <a:xfrm>
            <a:off x="2944368" y="4892040"/>
            <a:ext cx="2194560" cy="914400"/>
          </a:xfrm>
          <a:prstGeom prst="chevron">
            <a:avLst/>
          </a:prstGeom>
          <a:solidFill>
            <a:srgbClr val="C9551F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64408" y="4892040"/>
            <a:ext cx="1645920" cy="9144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Concentración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44368" y="5897880"/>
            <a:ext cx="219456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F4E7CC"/>
                </a:solidFill>
                <a:latin typeface="Calibri"/>
              </a:rPr>
              <a:t>Se separa la parte útil</a:t>
            </a:r>
          </a:p>
        </p:txBody>
      </p:sp>
      <p:sp>
        <p:nvSpPr>
          <p:cNvPr id="41" name="Chevron 40"/>
          <p:cNvSpPr/>
          <p:nvPr/>
        </p:nvSpPr>
        <p:spPr>
          <a:xfrm>
            <a:off x="5157216" y="4892040"/>
            <a:ext cx="2194560" cy="914400"/>
          </a:xfrm>
          <a:prstGeom prst="chevron">
            <a:avLst/>
          </a:prstGeom>
          <a:solidFill>
            <a:srgbClr val="D97A1F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77255" y="4892040"/>
            <a:ext cx="1645920" cy="9144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Fundición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57216" y="5897880"/>
            <a:ext cx="219456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F4E7CC"/>
                </a:solidFill>
                <a:latin typeface="Calibri"/>
              </a:rPr>
              <a:t>Metal fundido + escoria</a:t>
            </a:r>
          </a:p>
        </p:txBody>
      </p:sp>
      <p:sp>
        <p:nvSpPr>
          <p:cNvPr id="44" name="Chevron 43"/>
          <p:cNvSpPr/>
          <p:nvPr/>
        </p:nvSpPr>
        <p:spPr>
          <a:xfrm>
            <a:off x="7370064" y="4892040"/>
            <a:ext cx="2194560" cy="914400"/>
          </a:xfrm>
          <a:prstGeom prst="chevron">
            <a:avLst/>
          </a:prstGeom>
          <a:solidFill>
            <a:srgbClr val="E8B04B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90104" y="4892040"/>
            <a:ext cx="1645920" cy="9144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B1D14"/>
                </a:solidFill>
                <a:latin typeface="Georgia"/>
              </a:rPr>
              <a:t>Lingote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0064" y="5897880"/>
            <a:ext cx="219456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F4E7CC"/>
                </a:solidFill>
                <a:latin typeface="Calibri"/>
              </a:rPr>
              <a:t>Metal listo para trabajar</a:t>
            </a:r>
          </a:p>
        </p:txBody>
      </p:sp>
      <p:sp>
        <p:nvSpPr>
          <p:cNvPr id="47" name="Chevron 46"/>
          <p:cNvSpPr/>
          <p:nvPr/>
        </p:nvSpPr>
        <p:spPr>
          <a:xfrm>
            <a:off x="9582912" y="4892040"/>
            <a:ext cx="2194560" cy="914400"/>
          </a:xfrm>
          <a:prstGeom prst="chevron">
            <a:avLst/>
          </a:prstGeom>
          <a:solidFill>
            <a:srgbClr val="EAD7B0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902952" y="4892040"/>
            <a:ext cx="1645920" cy="9144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B1D14"/>
                </a:solidFill>
                <a:latin typeface="Georgia"/>
              </a:rPr>
              <a:t>Forja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82912" y="5897880"/>
            <a:ext cx="219456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F4E7CC"/>
                </a:solidFill>
                <a:latin typeface="Calibri"/>
              </a:rPr>
              <a:t>Se observan sus propiedades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lla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12567" y="320040"/>
            <a:ext cx="676656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12567" y="320040"/>
            <a:ext cx="67665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Del lingote al arma: propiedades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77295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F4E7CC"/>
                </a:solidFill>
                <a:latin typeface="Calibri"/>
              </a:rPr>
              <a:t>Así ve el estudiante la ficha de cada metal en el juego (valores aproximados)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2697480" cy="3429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c_iron_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10512"/>
            <a:ext cx="569976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1783080"/>
            <a:ext cx="1828800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3B2A1E"/>
                </a:solidFill>
                <a:latin typeface="Georgia"/>
              </a:rPr>
              <a:t>Hierro / acero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Fusión: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1.538 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61488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Forja: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900 – 1.150 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54096"/>
            <a:ext cx="128016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Maleabilidad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4884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37744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60604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834640" y="3127248"/>
            <a:ext cx="182880" cy="182880"/>
          </a:xfrm>
          <a:prstGeom prst="rect">
            <a:avLst/>
          </a:prstGeom>
          <a:solidFill>
            <a:srgbClr val="EAD7B0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520439"/>
            <a:ext cx="2377440" cy="1508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5540"/>
                </a:solidFill>
                <a:latin typeface="Calibri"/>
              </a:rPr>
              <a:t>Bajo ~800 °C deja de ceder y se agrieta; sobre ~1.300 °C se quema. Se templa desde 780–850 °C.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1645920"/>
            <a:ext cx="2697480" cy="3429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copper_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1810512"/>
            <a:ext cx="569976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14800" y="1783080"/>
            <a:ext cx="1828800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3B2A1E"/>
                </a:solidFill>
                <a:latin typeface="Georgia"/>
              </a:rPr>
              <a:t>Cobre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46888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Fusión: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1.085 °C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761488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Forja: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700 – 900 °C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54096"/>
            <a:ext cx="128016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Maleabilidad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98348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21208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4068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6928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20440" y="3520439"/>
            <a:ext cx="2377440" cy="1508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5540"/>
                </a:solidFill>
                <a:latin typeface="Calibri"/>
              </a:rPr>
              <a:t>Muy maleable, incluso en frío. Se endurece al martillarlo y se recuece calentándolo.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1645920"/>
            <a:ext cx="2697480" cy="3429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c_tin_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810512"/>
            <a:ext cx="569976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49440" y="1783080"/>
            <a:ext cx="1828800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3B2A1E"/>
                </a:solidFill>
                <a:latin typeface="Georgia"/>
              </a:rPr>
              <a:t>Estaño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246888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Fusión: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232 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761488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Forja: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No se forja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054096"/>
            <a:ext cx="128016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Maleabilidad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8952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81812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46720" y="3127248"/>
            <a:ext cx="182880" cy="182880"/>
          </a:xfrm>
          <a:prstGeom prst="rect">
            <a:avLst/>
          </a:prstGeom>
          <a:solidFill>
            <a:srgbClr val="EAD7B0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275320" y="3127248"/>
            <a:ext cx="182880" cy="182880"/>
          </a:xfrm>
          <a:prstGeom prst="rect">
            <a:avLst/>
          </a:prstGeom>
          <a:solidFill>
            <a:srgbClr val="EAD7B0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503920" y="3127248"/>
            <a:ext cx="182880" cy="182880"/>
          </a:xfrm>
          <a:prstGeom prst="rect">
            <a:avLst/>
          </a:prstGeom>
          <a:solidFill>
            <a:srgbClr val="EAD7B0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80" y="3520439"/>
            <a:ext cx="2377440" cy="1508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5540"/>
                </a:solidFill>
                <a:latin typeface="Calibri"/>
              </a:rPr>
              <a:t>Tan blando y de fusión tan baja que no sirve solo para armas: se usa para alear.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6840" y="1645920"/>
            <a:ext cx="2697480" cy="3429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c_bronze_ing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1810512"/>
            <a:ext cx="58963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784080" y="1783080"/>
            <a:ext cx="1828800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3B2A1E"/>
                </a:solidFill>
                <a:latin typeface="Georgia"/>
              </a:rPr>
              <a:t>Bronce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246888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Fusión: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~950 °C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2761488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Forja: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600 – 800 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3054096"/>
            <a:ext cx="128016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Maleabilidad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2416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65276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088136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1109960" y="3127248"/>
            <a:ext cx="182880" cy="182880"/>
          </a:xfrm>
          <a:prstGeom prst="rect">
            <a:avLst/>
          </a:prstGeom>
          <a:solidFill>
            <a:srgbClr val="EAD7B0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11338560" y="3127248"/>
            <a:ext cx="182880" cy="182880"/>
          </a:xfrm>
          <a:prstGeom prst="rect">
            <a:avLst/>
          </a:prstGeom>
          <a:solidFill>
            <a:srgbClr val="EAD7B0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189720" y="3520439"/>
            <a:ext cx="2377440" cy="1508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5540"/>
                </a:solidFill>
                <a:latin typeface="Calibri"/>
              </a:rPr>
              <a:t>Cerca de 88 % cobre y 12 % estaño: más duro que el cobre; con más estaño se vuelve quebradizo.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303520"/>
            <a:ext cx="11201400" cy="1325880"/>
          </a:xfrm>
          <a:prstGeom prst="roundRect">
            <a:avLst>
              <a:gd name="adj" fmla="val 4000"/>
            </a:avLst>
          </a:prstGeom>
          <a:solidFill>
            <a:srgbClr val="2B1D14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5349240"/>
            <a:ext cx="2743200" cy="12344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8B04B"/>
                </a:solidFill>
                <a:latin typeface="Georgia"/>
              </a:rPr>
              <a:t>Color de incandescencia del acero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20440" y="5504688"/>
            <a:ext cx="960120" cy="502920"/>
          </a:xfrm>
          <a:prstGeom prst="rect">
            <a:avLst/>
          </a:prstGeom>
          <a:solidFill>
            <a:srgbClr val="5A0D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52044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500 °C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26280" y="5504688"/>
            <a:ext cx="960120" cy="502920"/>
          </a:xfrm>
          <a:prstGeom prst="rect">
            <a:avLst/>
          </a:prstGeom>
          <a:solidFill>
            <a:srgbClr val="8C1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2628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650 °C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32120" y="5504688"/>
            <a:ext cx="960120" cy="502920"/>
          </a:xfrm>
          <a:prstGeom prst="rect">
            <a:avLst/>
          </a:prstGeom>
          <a:solidFill>
            <a:srgbClr val="CC1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53212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750 °C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37960" y="5504688"/>
            <a:ext cx="960120" cy="502920"/>
          </a:xfrm>
          <a:prstGeom prst="rect">
            <a:avLst/>
          </a:prstGeom>
          <a:solidFill>
            <a:srgbClr val="F24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53796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900 °C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43800" y="5504688"/>
            <a:ext cx="960120" cy="502920"/>
          </a:xfrm>
          <a:prstGeom prst="rect">
            <a:avLst/>
          </a:prstGeom>
          <a:solidFill>
            <a:srgbClr val="FF8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54380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1.000 °C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49640" y="5504688"/>
            <a:ext cx="960120" cy="502920"/>
          </a:xfrm>
          <a:prstGeom prst="rect">
            <a:avLst/>
          </a:prstGeom>
          <a:solidFill>
            <a:srgbClr val="FFB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54964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1.100 °C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555480" y="5504688"/>
            <a:ext cx="960120" cy="502920"/>
          </a:xfrm>
          <a:prstGeom prst="rect">
            <a:avLst/>
          </a:prstGeom>
          <a:solidFill>
            <a:srgbClr val="FFE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55548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1.200 °C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561320" y="5504688"/>
            <a:ext cx="960120" cy="502920"/>
          </a:xfrm>
          <a:prstGeom prst="rect">
            <a:avLst/>
          </a:prstGeom>
          <a:solidFill>
            <a:srgbClr val="FFF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056132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1.300+ °C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m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69767" y="320040"/>
            <a:ext cx="585216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69767" y="320040"/>
            <a:ext cx="58521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Alcances y limitaciones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57800" cy="489204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3E6B2F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257800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Incluye (corte vertical)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4663440" cy="4023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Fichas de minerales y metales con datos reales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Herrería, tienda, bosque y mina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Inventario, equipo, estadísticas y economía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Progresión del herrero (Principiante)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Combate por turnos con 2 tipos de lobo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Diálogos y cinemática del tutorial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Guardado en 3 ranuras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57800" cy="489204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C9551F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1554480"/>
            <a:ext cx="5257800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Fuera de alcance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31720"/>
            <a:ext cx="4663440" cy="4023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Juego completo: solo un fragmento jugable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Solo metales (sin hueso ni cristal)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Sin mejoras +1/+10 ni durabilidad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Sin segundo piso de la herrería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Solo PC (Windows)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Arte generado con IA, autorizado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Contenido de nivel introductorio a técnico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tien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09847" y="320040"/>
            <a:ext cx="457200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09847" y="320040"/>
            <a:ext cx="457200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Modelo de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091672" cy="484632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617720" y="1828800"/>
            <a:ext cx="2926080" cy="182880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1965960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17720" y="2560320"/>
            <a:ext cx="292608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Partida guardada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59" y="2926080"/>
            <a:ext cx="2743200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Lo que se guarda de cada jugador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43400"/>
            <a:ext cx="2468880" cy="178308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4480560"/>
            <a:ext cx="387275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5074920"/>
            <a:ext cx="246888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Jugador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2286000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Nivel, vida y estadísticas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057400" y="3657600"/>
            <a:ext cx="4023360" cy="658368"/>
          </a:xfrm>
          <a:prstGeom prst="line">
            <a:avLst/>
          </a:prstGeom>
          <a:ln w="38100">
            <a:solidFill>
              <a:srgbClr val="C9551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520440" y="4343400"/>
            <a:ext cx="2468880" cy="178308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4480560"/>
            <a:ext cx="516367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20440" y="5074920"/>
            <a:ext cx="246888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Inventario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440680"/>
            <a:ext cx="2286000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Objetos y su posición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4754880" y="3657600"/>
            <a:ext cx="1325880" cy="658368"/>
          </a:xfrm>
          <a:prstGeom prst="line">
            <a:avLst/>
          </a:prstGeom>
          <a:ln w="38100">
            <a:solidFill>
              <a:srgbClr val="C9551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4343400"/>
            <a:ext cx="2468880" cy="178308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0" y="4480560"/>
            <a:ext cx="532504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17920" y="5074920"/>
            <a:ext cx="246888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Progreso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5440680"/>
            <a:ext cx="2286000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Grado de herrero y examen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80760" y="3657600"/>
            <a:ext cx="1371600" cy="658368"/>
          </a:xfrm>
          <a:prstGeom prst="line">
            <a:avLst/>
          </a:prstGeom>
          <a:ln w="38100">
            <a:solidFill>
              <a:srgbClr val="C9551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15400" y="4343400"/>
            <a:ext cx="2468880" cy="178308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5519" y="4480560"/>
            <a:ext cx="621792" cy="548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915400" y="5074920"/>
            <a:ext cx="246888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Mundo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5440680"/>
            <a:ext cx="2286000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Historia, vetas y enemigos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80760" y="3657600"/>
            <a:ext cx="4069080" cy="658368"/>
          </a:xfrm>
          <a:prstGeom prst="line">
            <a:avLst/>
          </a:prstGeom>
          <a:ln w="38100">
            <a:solidFill>
              <a:srgbClr val="C9551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2960" y="6144768"/>
            <a:ext cx="105156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1">
                <a:solidFill>
                  <a:srgbClr val="6E5540"/>
                </a:solidFill>
                <a:latin typeface="Calibri"/>
              </a:rPr>
              <a:t>Los datos de minerales, metales, armas y monstruos se definen como recursos del juego (Godot), no en la partida.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exteri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69767" y="320040"/>
            <a:ext cx="585216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69767" y="320040"/>
            <a:ext cx="58521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Evidencias comprometidas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65992" cy="507492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90879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65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E8B04B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E8B04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E8B04B"/>
                          </a:solidFill>
                          <a:latin typeface="Calibri"/>
                        </a:rPr>
                        <a:t>Descripción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E6B2F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B2A1E"/>
                          </a:solidFill>
                          <a:latin typeface="Calibri"/>
                        </a:rPr>
                        <a:t>Documento de diseño (GDD)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B2A1E"/>
                          </a:solidFill>
                          <a:latin typeface="Calibri"/>
                        </a:rPr>
                        <a:t>Documento con el alcance del corte vertical, mecánicas, narrativa, contenidos didácticos y estado de implementación.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E6B2F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B2A1E"/>
                          </a:solidFill>
                          <a:latin typeface="Calibri"/>
                        </a:rPr>
                        <a:t>Versión jugable de avance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B2A1E"/>
                          </a:solidFill>
                          <a:latin typeface="Calibri"/>
                        </a:rPr>
                        <a:t>Ejecutable con las fichas de metales, la forja, la herrería explorable, el inventario y la mina.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E6B2F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B2A1E"/>
                          </a:solidFill>
                          <a:latin typeface="Calibri"/>
                        </a:rPr>
                        <a:t>Repositorio y tablero de tareas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B2A1E"/>
                          </a:solidFill>
                          <a:latin typeface="Calibri"/>
                        </a:rPr>
                        <a:t>Repositorio en GitHub con historial de commits y pull requests, y tablero Trello con las tareas de cada etapa.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9551F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B2A1E"/>
                          </a:solidFill>
                          <a:latin typeface="Calibri"/>
                        </a:rPr>
                        <a:t>Videojuego final (corte vertical)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B2A1E"/>
                          </a:solidFill>
                          <a:latin typeface="Calibri"/>
                        </a:rPr>
                        <a:t>Ejecutable para Windows con todos los sistemas integrados, publicable en itch.io.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9551F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B2A1E"/>
                          </a:solidFill>
                          <a:latin typeface="Calibri"/>
                        </a:rPr>
                        <a:t>Informe de pruebas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B2A1E"/>
                          </a:solidFill>
                          <a:latin typeface="Calibri"/>
                        </a:rPr>
                        <a:t>Resultados de las pruebas automatizadas y de las pruebas con estudiantes de metalurgia, incluyendo una encuesta sobre comprensión de las propiedades de los metales.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9551F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B2A1E"/>
                          </a:solidFill>
                          <a:latin typeface="Calibri"/>
                        </a:rPr>
                        <a:t>Informe final y presentación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B2A1E"/>
                          </a:solidFill>
                          <a:latin typeface="Calibri"/>
                        </a:rPr>
                        <a:t>Documento final del proyecto y presentación con demostración en vivo ante la comisión.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intermedi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44087" y="320040"/>
            <a:ext cx="530352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44087" y="320040"/>
            <a:ext cx="530352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Factibilidad y riesgos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4114800" cy="507492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365760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3E6B2F"/>
                </a:solidFill>
                <a:latin typeface="Georgia"/>
              </a:rPr>
              <a:t>Por qué es factible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657600" cy="4297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18 semanas con alcance acotado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Herramientas gratuitas: sin presupuesto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Prototipo previo del ciclo de forja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Roles definidos para trabajar en paralelo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Godot tiene amplia documentación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0" y="1463040"/>
            <a:ext cx="310896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8B04B"/>
                </a:solidFill>
                <a:latin typeface="Georgia"/>
              </a:rPr>
              <a:t>Riesgo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463040"/>
            <a:ext cx="310896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8B04B"/>
                </a:solidFill>
                <a:latin typeface="Georgia"/>
              </a:rPr>
              <a:t>Mitigación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1965960"/>
            <a:ext cx="3108960" cy="777240"/>
          </a:xfrm>
          <a:prstGeom prst="roundRect">
            <a:avLst>
              <a:gd name="adj" fmla="val 10000"/>
            </a:avLst>
          </a:prstGeom>
          <a:solidFill>
            <a:srgbClr val="F6D9C4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20640" y="1965960"/>
            <a:ext cx="28803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Práctica profesional en paralelo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138160" y="2212848"/>
            <a:ext cx="292608" cy="274320"/>
          </a:xfrm>
          <a:prstGeom prst="rightArrow">
            <a:avLst/>
          </a:prstGeom>
          <a:solidFill>
            <a:srgbClr val="E8B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458200" y="1965960"/>
            <a:ext cx="3154680" cy="777240"/>
          </a:xfrm>
          <a:prstGeom prst="roundRect">
            <a:avLst>
              <a:gd name="adj" fmla="val 10000"/>
            </a:avLst>
          </a:prstGeom>
          <a:solidFill>
            <a:srgbClr val="F4E7CC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0" y="1965960"/>
            <a:ext cx="292608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Planificación por etapas con holgura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2880360"/>
            <a:ext cx="3108960" cy="777240"/>
          </a:xfrm>
          <a:prstGeom prst="roundRect">
            <a:avLst>
              <a:gd name="adj" fmla="val 10000"/>
            </a:avLst>
          </a:prstGeom>
          <a:solidFill>
            <a:srgbClr val="F6D9C4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0" y="2880360"/>
            <a:ext cx="28803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Pérdida de trabajo (ya ocurrió)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138160" y="3127248"/>
            <a:ext cx="292608" cy="274320"/>
          </a:xfrm>
          <a:prstGeom prst="rightArrow">
            <a:avLst/>
          </a:prstGeom>
          <a:solidFill>
            <a:srgbClr val="E8B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458200" y="2880360"/>
            <a:ext cx="3154680" cy="777240"/>
          </a:xfrm>
          <a:prstGeom prst="roundRect">
            <a:avLst>
              <a:gd name="adj" fmla="val 10000"/>
            </a:avLst>
          </a:prstGeom>
          <a:solidFill>
            <a:srgbClr val="F4E7CC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0" y="2880360"/>
            <a:ext cx="292608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GitHub como fuente única y respaldos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3794760"/>
            <a:ext cx="3108960" cy="777240"/>
          </a:xfrm>
          <a:prstGeom prst="roundRect">
            <a:avLst>
              <a:gd name="adj" fmla="val 10000"/>
            </a:avLst>
          </a:prstGeom>
          <a:solidFill>
            <a:srgbClr val="F6D9C4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0640" y="3794760"/>
            <a:ext cx="28803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Conflictos al integrar código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38160" y="4041648"/>
            <a:ext cx="292608" cy="274320"/>
          </a:xfrm>
          <a:prstGeom prst="rightArrow">
            <a:avLst/>
          </a:prstGeom>
          <a:solidFill>
            <a:srgbClr val="E8B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58200" y="3794760"/>
            <a:ext cx="3154680" cy="777240"/>
          </a:xfrm>
          <a:prstGeom prst="roundRect">
            <a:avLst>
              <a:gd name="adj" fmla="val 10000"/>
            </a:avLst>
          </a:prstGeom>
          <a:solidFill>
            <a:srgbClr val="F4E7CC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3794760"/>
            <a:ext cx="292608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Ramas por funcionalidad y pull requests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83480" y="4709160"/>
            <a:ext cx="3108960" cy="777240"/>
          </a:xfrm>
          <a:prstGeom prst="roundRect">
            <a:avLst>
              <a:gd name="adj" fmla="val 10000"/>
            </a:avLst>
          </a:prstGeom>
          <a:solidFill>
            <a:srgbClr val="F6D9C4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0" y="4709160"/>
            <a:ext cx="28803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Dependencia del arte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138160" y="4956048"/>
            <a:ext cx="292608" cy="274320"/>
          </a:xfrm>
          <a:prstGeom prst="rightArrow">
            <a:avLst/>
          </a:prstGeom>
          <a:solidFill>
            <a:srgbClr val="E8B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458200" y="4709160"/>
            <a:ext cx="3154680" cy="777240"/>
          </a:xfrm>
          <a:prstGeom prst="roundRect">
            <a:avLst>
              <a:gd name="adj" fmla="val 10000"/>
            </a:avLst>
          </a:prstGeom>
          <a:solidFill>
            <a:srgbClr val="F4E7CC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95360" y="4709160"/>
            <a:ext cx="292608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Recursos provisionales e IA autorizada</a:t>
            </a:r>
          </a:p>
        </p:txBody>
      </p:sp>
      <p:pic>
        <p:nvPicPr>
          <p:cNvPr id="30" name="Picture 29" descr="wol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5623560"/>
            <a:ext cx="1781251" cy="1097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2205</Words>
  <Application>Microsoft Office PowerPoint</Application>
  <PresentationFormat>Panorámica</PresentationFormat>
  <Paragraphs>319</Paragraphs>
  <Slides>20</Slides>
  <Notes>18</Notes>
  <HiddenSlides>6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yerko loncon</cp:lastModifiedBy>
  <cp:revision>3</cp:revision>
  <dcterms:created xsi:type="dcterms:W3CDTF">2013-01-27T09:14:16Z</dcterms:created>
  <dcterms:modified xsi:type="dcterms:W3CDTF">2026-10-21T19:02:20Z</dcterms:modified>
  <cp:category/>
</cp:coreProperties>
</file>